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6_F9364A72.xml" ContentType="application/vnd.ms-powerpoint.comments+xml"/>
  <Override PartName="/ppt/notesSlides/notesSlide6.xml" ContentType="application/vnd.openxmlformats-officedocument.presentationml.notesSlide+xml"/>
  <Override PartName="/ppt/comments/modernComment_104_9577E34D.xml" ContentType="application/vnd.ms-powerpoint.comments+xml"/>
  <Override PartName="/ppt/notesSlides/notesSlide7.xml" ContentType="application/vnd.openxmlformats-officedocument.presentationml.notesSlide+xml"/>
  <Override PartName="/ppt/comments/modernComment_109_951A6B6B.xml" ContentType="application/vnd.ms-powerpoint.comments+xml"/>
  <Override PartName="/ppt/notesSlides/notesSlide8.xml" ContentType="application/vnd.openxmlformats-officedocument.presentationml.notesSlide+xml"/>
  <Override PartName="/ppt/comments/modernComment_10C_4886808B.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18_B3031070.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61" r:id="rId3"/>
    <p:sldId id="278" r:id="rId4"/>
    <p:sldId id="263" r:id="rId5"/>
    <p:sldId id="262" r:id="rId6"/>
    <p:sldId id="260" r:id="rId7"/>
    <p:sldId id="265" r:id="rId8"/>
    <p:sldId id="268" r:id="rId9"/>
    <p:sldId id="274" r:id="rId10"/>
    <p:sldId id="280" r:id="rId11"/>
    <p:sldId id="282" r:id="rId12"/>
    <p:sldId id="283" r:id="rId13"/>
    <p:sldId id="271" r:id="rId14"/>
    <p:sldId id="267" r:id="rId15"/>
  </p:sldIdLst>
  <p:sldSz cx="12195175" cy="6859588"/>
  <p:notesSz cx="6858000" cy="9144000"/>
  <p:defaultTextStyle>
    <a:defPPr>
      <a:defRPr lang="de-DE"/>
    </a:defPPr>
    <a:lvl1pPr marL="0" algn="l" defTabSz="914305" rtl="0" eaLnBrk="1" latinLnBrk="0" hangingPunct="1">
      <a:defRPr sz="1800" kern="1200">
        <a:solidFill>
          <a:schemeClr val="tx1"/>
        </a:solidFill>
        <a:latin typeface="+mn-lt"/>
        <a:ea typeface="+mn-ea"/>
        <a:cs typeface="+mn-cs"/>
      </a:defRPr>
    </a:lvl1pPr>
    <a:lvl2pPr marL="457152" algn="l" defTabSz="914305" rtl="0" eaLnBrk="1" latinLnBrk="0" hangingPunct="1">
      <a:defRPr sz="1800" kern="1200">
        <a:solidFill>
          <a:schemeClr val="tx1"/>
        </a:solidFill>
        <a:latin typeface="+mn-lt"/>
        <a:ea typeface="+mn-ea"/>
        <a:cs typeface="+mn-cs"/>
      </a:defRPr>
    </a:lvl2pPr>
    <a:lvl3pPr marL="914305" algn="l" defTabSz="914305" rtl="0" eaLnBrk="1" latinLnBrk="0" hangingPunct="1">
      <a:defRPr sz="1800" kern="1200">
        <a:solidFill>
          <a:schemeClr val="tx1"/>
        </a:solidFill>
        <a:latin typeface="+mn-lt"/>
        <a:ea typeface="+mn-ea"/>
        <a:cs typeface="+mn-cs"/>
      </a:defRPr>
    </a:lvl3pPr>
    <a:lvl4pPr marL="1371457" algn="l" defTabSz="914305" rtl="0" eaLnBrk="1" latinLnBrk="0" hangingPunct="1">
      <a:defRPr sz="1800" kern="1200">
        <a:solidFill>
          <a:schemeClr val="tx1"/>
        </a:solidFill>
        <a:latin typeface="+mn-lt"/>
        <a:ea typeface="+mn-ea"/>
        <a:cs typeface="+mn-cs"/>
      </a:defRPr>
    </a:lvl4pPr>
    <a:lvl5pPr marL="1828610" algn="l" defTabSz="914305" rtl="0" eaLnBrk="1" latinLnBrk="0" hangingPunct="1">
      <a:defRPr sz="1800" kern="1200">
        <a:solidFill>
          <a:schemeClr val="tx1"/>
        </a:solidFill>
        <a:latin typeface="+mn-lt"/>
        <a:ea typeface="+mn-ea"/>
        <a:cs typeface="+mn-cs"/>
      </a:defRPr>
    </a:lvl5pPr>
    <a:lvl6pPr marL="2285761" algn="l" defTabSz="914305" rtl="0" eaLnBrk="1" latinLnBrk="0" hangingPunct="1">
      <a:defRPr sz="1800" kern="1200">
        <a:solidFill>
          <a:schemeClr val="tx1"/>
        </a:solidFill>
        <a:latin typeface="+mn-lt"/>
        <a:ea typeface="+mn-ea"/>
        <a:cs typeface="+mn-cs"/>
      </a:defRPr>
    </a:lvl6pPr>
    <a:lvl7pPr marL="2742914" algn="l" defTabSz="914305" rtl="0" eaLnBrk="1" latinLnBrk="0" hangingPunct="1">
      <a:defRPr sz="1800" kern="1200">
        <a:solidFill>
          <a:schemeClr val="tx1"/>
        </a:solidFill>
        <a:latin typeface="+mn-lt"/>
        <a:ea typeface="+mn-ea"/>
        <a:cs typeface="+mn-cs"/>
      </a:defRPr>
    </a:lvl7pPr>
    <a:lvl8pPr marL="3200066" algn="l" defTabSz="914305" rtl="0" eaLnBrk="1" latinLnBrk="0" hangingPunct="1">
      <a:defRPr sz="1800" kern="1200">
        <a:solidFill>
          <a:schemeClr val="tx1"/>
        </a:solidFill>
        <a:latin typeface="+mn-lt"/>
        <a:ea typeface="+mn-ea"/>
        <a:cs typeface="+mn-cs"/>
      </a:defRPr>
    </a:lvl8pPr>
    <a:lvl9pPr marL="3657219" algn="l" defTabSz="91430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p15:clr>
            <a:srgbClr val="A4A3A4"/>
          </p15:clr>
        </p15:guide>
        <p15:guide id="2" pos="384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25FED7-A17D-7CF3-130C-6A1DC97C4202}" name="이지연" initials="이" userId="S::dnldwm@sungshin.ac.kr::93fb4cb5-a60c-4374-81d8-dd464b81280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D7FF"/>
    <a:srgbClr val="0030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85" autoAdjust="0"/>
    <p:restoredTop sz="86951" autoAdjust="0"/>
  </p:normalViewPr>
  <p:slideViewPr>
    <p:cSldViewPr showGuides="1">
      <p:cViewPr>
        <p:scale>
          <a:sx n="73" d="100"/>
          <a:sy n="73" d="100"/>
        </p:scale>
        <p:origin x="1212" y="89"/>
      </p:cViewPr>
      <p:guideLst>
        <p:guide orient="horz" pos="2161"/>
        <p:guide pos="3841"/>
      </p:guideLst>
    </p:cSldViewPr>
  </p:slideViewPr>
  <p:outlineViewPr>
    <p:cViewPr>
      <p:scale>
        <a:sx n="33" d="100"/>
        <a:sy n="33" d="100"/>
      </p:scale>
      <p:origin x="0" y="-9886"/>
    </p:cViewPr>
  </p:outlin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jiyexxnx\Desktop\exercise_4_language_models_part_2\adf.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ko-KR" dirty="0"/>
              <a:t>Average</a:t>
            </a:r>
            <a:r>
              <a:rPr lang="en-US" altLang="ko-KR" baseline="0" dirty="0"/>
              <a:t> of evaluation</a:t>
            </a:r>
            <a:endParaRPr lang="ko-KR" alt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ko-KR"/>
        </a:p>
      </c:txPr>
    </c:title>
    <c:autoTitleDeleted val="0"/>
    <c:plotArea>
      <c:layout/>
      <c:lineChart>
        <c:grouping val="standard"/>
        <c:varyColors val="0"/>
        <c:ser>
          <c:idx val="0"/>
          <c:order val="0"/>
          <c:tx>
            <c:strRef>
              <c:f>Sheet2!$G$1</c:f>
              <c:strCache>
                <c:ptCount val="1"/>
                <c:pt idx="0">
                  <c:v>Stanza</c:v>
                </c:pt>
              </c:strCache>
            </c:strRef>
          </c:tx>
          <c:spPr>
            <a:ln w="28575" cap="rnd">
              <a:solidFill>
                <a:schemeClr val="accent6">
                  <a:shade val="76000"/>
                </a:schemeClr>
              </a:solidFill>
              <a:round/>
            </a:ln>
            <a:effectLst/>
          </c:spPr>
          <c:marker>
            <c:symbol val="none"/>
          </c:marker>
          <c:val>
            <c:numRef>
              <c:f>Sheet2!$G$2:$G$51</c:f>
              <c:numCache>
                <c:formatCode>General</c:formatCode>
                <c:ptCount val="50"/>
                <c:pt idx="0">
                  <c:v>2.4</c:v>
                </c:pt>
                <c:pt idx="1">
                  <c:v>1.6</c:v>
                </c:pt>
                <c:pt idx="2">
                  <c:v>1.6</c:v>
                </c:pt>
                <c:pt idx="3">
                  <c:v>2.2000000000000002</c:v>
                </c:pt>
                <c:pt idx="4">
                  <c:v>2.6</c:v>
                </c:pt>
                <c:pt idx="5">
                  <c:v>2.6</c:v>
                </c:pt>
                <c:pt idx="6">
                  <c:v>2.6</c:v>
                </c:pt>
                <c:pt idx="7">
                  <c:v>3</c:v>
                </c:pt>
                <c:pt idx="8">
                  <c:v>1.6</c:v>
                </c:pt>
                <c:pt idx="9">
                  <c:v>3</c:v>
                </c:pt>
                <c:pt idx="10">
                  <c:v>3.2</c:v>
                </c:pt>
                <c:pt idx="11">
                  <c:v>1.4</c:v>
                </c:pt>
                <c:pt idx="12">
                  <c:v>3.6</c:v>
                </c:pt>
                <c:pt idx="13">
                  <c:v>3.4</c:v>
                </c:pt>
                <c:pt idx="14">
                  <c:v>1.4</c:v>
                </c:pt>
                <c:pt idx="15">
                  <c:v>2</c:v>
                </c:pt>
                <c:pt idx="16">
                  <c:v>2.6</c:v>
                </c:pt>
                <c:pt idx="17">
                  <c:v>2.8</c:v>
                </c:pt>
                <c:pt idx="18">
                  <c:v>3</c:v>
                </c:pt>
                <c:pt idx="19">
                  <c:v>2.2000000000000002</c:v>
                </c:pt>
                <c:pt idx="20">
                  <c:v>1.8</c:v>
                </c:pt>
                <c:pt idx="21">
                  <c:v>2.4</c:v>
                </c:pt>
                <c:pt idx="22">
                  <c:v>2.4</c:v>
                </c:pt>
                <c:pt idx="23">
                  <c:v>2</c:v>
                </c:pt>
                <c:pt idx="24">
                  <c:v>2.6</c:v>
                </c:pt>
                <c:pt idx="25">
                  <c:v>2</c:v>
                </c:pt>
                <c:pt idx="26">
                  <c:v>2</c:v>
                </c:pt>
                <c:pt idx="27">
                  <c:v>2</c:v>
                </c:pt>
                <c:pt idx="28">
                  <c:v>3.6</c:v>
                </c:pt>
                <c:pt idx="29">
                  <c:v>2</c:v>
                </c:pt>
                <c:pt idx="30">
                  <c:v>2.4</c:v>
                </c:pt>
                <c:pt idx="31">
                  <c:v>2.2000000000000002</c:v>
                </c:pt>
                <c:pt idx="32">
                  <c:v>1.2</c:v>
                </c:pt>
                <c:pt idx="33">
                  <c:v>2.4</c:v>
                </c:pt>
                <c:pt idx="34">
                  <c:v>1.8</c:v>
                </c:pt>
                <c:pt idx="35">
                  <c:v>2.6</c:v>
                </c:pt>
                <c:pt idx="36">
                  <c:v>2.4</c:v>
                </c:pt>
                <c:pt idx="37">
                  <c:v>2.6</c:v>
                </c:pt>
                <c:pt idx="38">
                  <c:v>2.8</c:v>
                </c:pt>
                <c:pt idx="39">
                  <c:v>2.8</c:v>
                </c:pt>
                <c:pt idx="40">
                  <c:v>2.4</c:v>
                </c:pt>
                <c:pt idx="41">
                  <c:v>2.6</c:v>
                </c:pt>
                <c:pt idx="42">
                  <c:v>2.2000000000000002</c:v>
                </c:pt>
                <c:pt idx="43">
                  <c:v>2</c:v>
                </c:pt>
                <c:pt idx="44">
                  <c:v>2.8</c:v>
                </c:pt>
                <c:pt idx="45">
                  <c:v>2.6</c:v>
                </c:pt>
                <c:pt idx="46">
                  <c:v>3.8</c:v>
                </c:pt>
                <c:pt idx="47">
                  <c:v>3.4</c:v>
                </c:pt>
                <c:pt idx="48">
                  <c:v>2.6</c:v>
                </c:pt>
                <c:pt idx="49">
                  <c:v>2.4</c:v>
                </c:pt>
              </c:numCache>
            </c:numRef>
          </c:val>
          <c:smooth val="0"/>
          <c:extLst>
            <c:ext xmlns:c16="http://schemas.microsoft.com/office/drawing/2014/chart" uri="{C3380CC4-5D6E-409C-BE32-E72D297353CC}">
              <c16:uniqueId val="{00000000-AA1C-447E-811F-4AB4D4176A7E}"/>
            </c:ext>
          </c:extLst>
        </c:ser>
        <c:ser>
          <c:idx val="1"/>
          <c:order val="1"/>
          <c:tx>
            <c:strRef>
              <c:f>Sheet2!$I$1</c:f>
              <c:strCache>
                <c:ptCount val="1"/>
                <c:pt idx="0">
                  <c:v>Line</c:v>
                </c:pt>
              </c:strCache>
            </c:strRef>
          </c:tx>
          <c:spPr>
            <a:ln w="28575" cap="rnd">
              <a:solidFill>
                <a:schemeClr val="accent6">
                  <a:tint val="77000"/>
                </a:schemeClr>
              </a:solidFill>
              <a:round/>
            </a:ln>
            <a:effectLst/>
          </c:spPr>
          <c:marker>
            <c:symbol val="none"/>
          </c:marker>
          <c:val>
            <c:numRef>
              <c:f>Sheet2!$I$2:$I$51</c:f>
              <c:numCache>
                <c:formatCode>General</c:formatCode>
                <c:ptCount val="50"/>
                <c:pt idx="0">
                  <c:v>2.95</c:v>
                </c:pt>
                <c:pt idx="1">
                  <c:v>3.25</c:v>
                </c:pt>
                <c:pt idx="2">
                  <c:v>4.2</c:v>
                </c:pt>
                <c:pt idx="3">
                  <c:v>4.25</c:v>
                </c:pt>
                <c:pt idx="4">
                  <c:v>4.17</c:v>
                </c:pt>
                <c:pt idx="5">
                  <c:v>2.76</c:v>
                </c:pt>
                <c:pt idx="6">
                  <c:v>4.5</c:v>
                </c:pt>
                <c:pt idx="7">
                  <c:v>4.2</c:v>
                </c:pt>
                <c:pt idx="8">
                  <c:v>3.5</c:v>
                </c:pt>
                <c:pt idx="9">
                  <c:v>3.78</c:v>
                </c:pt>
                <c:pt idx="10">
                  <c:v>3.54</c:v>
                </c:pt>
                <c:pt idx="11">
                  <c:v>4.5</c:v>
                </c:pt>
                <c:pt idx="12">
                  <c:v>4.26</c:v>
                </c:pt>
                <c:pt idx="13">
                  <c:v>4.2300000000000004</c:v>
                </c:pt>
                <c:pt idx="14">
                  <c:v>4</c:v>
                </c:pt>
                <c:pt idx="15">
                  <c:v>3.33</c:v>
                </c:pt>
                <c:pt idx="16">
                  <c:v>4.71</c:v>
                </c:pt>
                <c:pt idx="17">
                  <c:v>4</c:v>
                </c:pt>
                <c:pt idx="18">
                  <c:v>4.1100000000000003</c:v>
                </c:pt>
                <c:pt idx="19">
                  <c:v>5</c:v>
                </c:pt>
                <c:pt idx="20">
                  <c:v>3.71</c:v>
                </c:pt>
                <c:pt idx="21">
                  <c:v>3.9</c:v>
                </c:pt>
                <c:pt idx="22">
                  <c:v>3.5</c:v>
                </c:pt>
                <c:pt idx="23">
                  <c:v>4.46</c:v>
                </c:pt>
                <c:pt idx="24">
                  <c:v>4.375</c:v>
                </c:pt>
                <c:pt idx="25">
                  <c:v>3.89</c:v>
                </c:pt>
                <c:pt idx="26">
                  <c:v>4</c:v>
                </c:pt>
                <c:pt idx="27">
                  <c:v>3.33</c:v>
                </c:pt>
                <c:pt idx="28">
                  <c:v>4</c:v>
                </c:pt>
                <c:pt idx="29">
                  <c:v>4.09</c:v>
                </c:pt>
                <c:pt idx="30">
                  <c:v>4.2</c:v>
                </c:pt>
                <c:pt idx="31">
                  <c:v>3.44</c:v>
                </c:pt>
                <c:pt idx="32">
                  <c:v>3.2</c:v>
                </c:pt>
                <c:pt idx="33">
                  <c:v>4.84</c:v>
                </c:pt>
                <c:pt idx="34">
                  <c:v>4.1399999999999997</c:v>
                </c:pt>
                <c:pt idx="35">
                  <c:v>3.75</c:v>
                </c:pt>
                <c:pt idx="36">
                  <c:v>3.93</c:v>
                </c:pt>
                <c:pt idx="37">
                  <c:v>3.4</c:v>
                </c:pt>
                <c:pt idx="38">
                  <c:v>4.66</c:v>
                </c:pt>
                <c:pt idx="39">
                  <c:v>3.5</c:v>
                </c:pt>
                <c:pt idx="40">
                  <c:v>3</c:v>
                </c:pt>
                <c:pt idx="41">
                  <c:v>3.71</c:v>
                </c:pt>
                <c:pt idx="42">
                  <c:v>3.125</c:v>
                </c:pt>
                <c:pt idx="43">
                  <c:v>4.5</c:v>
                </c:pt>
                <c:pt idx="44">
                  <c:v>3.8570000000000002</c:v>
                </c:pt>
                <c:pt idx="45">
                  <c:v>3.63</c:v>
                </c:pt>
                <c:pt idx="46">
                  <c:v>3</c:v>
                </c:pt>
                <c:pt idx="47">
                  <c:v>3.63</c:v>
                </c:pt>
                <c:pt idx="48">
                  <c:v>3.89</c:v>
                </c:pt>
                <c:pt idx="49">
                  <c:v>3.36</c:v>
                </c:pt>
              </c:numCache>
            </c:numRef>
          </c:val>
          <c:smooth val="0"/>
          <c:extLst>
            <c:ext xmlns:c16="http://schemas.microsoft.com/office/drawing/2014/chart" uri="{C3380CC4-5D6E-409C-BE32-E72D297353CC}">
              <c16:uniqueId val="{00000001-AA1C-447E-811F-4AB4D4176A7E}"/>
            </c:ext>
          </c:extLst>
        </c:ser>
        <c:dLbls>
          <c:showLegendKey val="0"/>
          <c:showVal val="0"/>
          <c:showCatName val="0"/>
          <c:showSerName val="0"/>
          <c:showPercent val="0"/>
          <c:showBubbleSize val="0"/>
        </c:dLbls>
        <c:smooth val="0"/>
        <c:axId val="1671909279"/>
        <c:axId val="1671896319"/>
      </c:lineChart>
      <c:catAx>
        <c:axId val="1671909279"/>
        <c:scaling>
          <c:orientation val="minMax"/>
        </c:scaling>
        <c:delete val="0"/>
        <c:axPos val="t"/>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ko-KR" dirty="0"/>
                  <a:t>The number of Poems</a:t>
                </a:r>
                <a:endParaRPr lang="ko-KR" altLang="en-US"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ko-K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1671896319"/>
        <c:crosses val="autoZero"/>
        <c:auto val="1"/>
        <c:lblAlgn val="ctr"/>
        <c:lblOffset val="100"/>
        <c:noMultiLvlLbl val="0"/>
      </c:catAx>
      <c:valAx>
        <c:axId val="1671896319"/>
        <c:scaling>
          <c:orientation val="maxMin"/>
          <c:max val="6"/>
          <c:min val="1"/>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ko-KR" dirty="0"/>
                  <a:t>Range(1to</a:t>
                </a:r>
                <a:r>
                  <a:rPr lang="en-US" altLang="ko-KR" baseline="0" dirty="0"/>
                  <a:t> 5)</a:t>
                </a:r>
                <a:endParaRPr lang="en-US" altLang="ko-KR" dirty="0"/>
              </a:p>
              <a:p>
                <a:pPr>
                  <a:defRPr/>
                </a:pPr>
                <a:r>
                  <a:rPr lang="en-US" altLang="ko-KR" dirty="0"/>
                  <a:t>1 is high</a:t>
                </a:r>
                <a:r>
                  <a:rPr lang="en-US" altLang="ko-KR" baseline="0" dirty="0"/>
                  <a:t> score</a:t>
                </a:r>
              </a:p>
              <a:p>
                <a:pPr>
                  <a:defRPr/>
                </a:pPr>
                <a:r>
                  <a:rPr lang="en-US" altLang="ko-KR" baseline="0" dirty="0"/>
                  <a:t>5 is low score</a:t>
                </a:r>
              </a:p>
              <a:p>
                <a:pPr>
                  <a:defRPr/>
                </a:pPr>
                <a:endParaRPr lang="ko-KR" altLang="en-US" dirty="0"/>
              </a:p>
            </c:rich>
          </c:tx>
          <c:layout>
            <c:manualLayout>
              <c:xMode val="edge"/>
              <c:yMode val="edge"/>
              <c:x val="4.9523006361041691E-3"/>
              <c:y val="0.47361579365263751"/>
            </c:manualLayout>
          </c:layout>
          <c:overlay val="0"/>
          <c:spPr>
            <a:noFill/>
            <a:ln>
              <a:noFill/>
            </a:ln>
            <a:effectLst/>
          </c:spPr>
          <c:txPr>
            <a:bodyPr rot="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ko-K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1671909279"/>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0C_4886808B.xml><?xml version="1.0" encoding="utf-8"?>
<p188:cmLst xmlns:a="http://schemas.openxmlformats.org/drawingml/2006/main" xmlns:r="http://schemas.openxmlformats.org/officeDocument/2006/relationships" xmlns:p188="http://schemas.microsoft.com/office/powerpoint/2018/8/main">
  <p188:cm id="{EFC64733-A032-4981-A9F3-17170CEFE4BB}" authorId="{2625FED7-A17D-7CF3-130C-6A1DC97C4202}" created="2024-04-26T16:07:32.733">
    <pc:sldMkLst xmlns:pc="http://schemas.microsoft.com/office/powerpoint/2013/main/command">
      <pc:docMk/>
      <pc:sldMk cId="1216774283" sldId="268"/>
    </pc:sldMkLst>
    <p188:replyLst>
      <p188:reply id="{94D38795-5BF6-431B-84B4-67D7809F1078}" authorId="{2625FED7-A17D-7CF3-130C-6A1DC97C4202}" created="2024-04-26T16:10:34.012">
        <p188:txBody>
          <a:bodyPr/>
          <a:lstStyle/>
          <a:p>
            <a:r>
              <a:rPr lang="ko-KR" altLang="en-US"/>
              <a:t>Green part &gt; give examples (2-3)</a:t>
            </a:r>
          </a:p>
        </p188:txBody>
      </p188:reply>
    </p188:replyLst>
    <p188:txBody>
      <a:bodyPr/>
      <a:lstStyle/>
      <a:p>
        <a:r>
          <a:rPr lang="ko-KR" altLang="en-US"/>
          <a:t>Highlight 
-Correct one
-Incoreect one</a:t>
        </a:r>
      </a:p>
    </p188:txBody>
    <p188:extLst>
      <p:ext xmlns:p="http://schemas.openxmlformats.org/presentationml/2006/main" uri="{57CB4572-C831-44C2-8A1C-0ADB6CCDFE69}">
        <p223:reactions xmlns:p223="http://schemas.microsoft.com/office/powerpoint/2022/03/main">
          <p223:rxn type="👍">
            <p223:instance time="2024-04-27T17:18:29.488" authorId="{2625FED7-A17D-7CF3-130C-6A1DC97C4202}"/>
          </p223:rxn>
        </p223:reactions>
      </p:ext>
    </p188:extLst>
  </p188:cm>
</p188:cmLst>
</file>

<file path=ppt/comments/modernComment_104_9577E34D.xml><?xml version="1.0" encoding="utf-8"?>
<p188:cmLst xmlns:a="http://schemas.openxmlformats.org/drawingml/2006/main" xmlns:r="http://schemas.openxmlformats.org/officeDocument/2006/relationships" xmlns:p188="http://schemas.microsoft.com/office/powerpoint/2018/8/main">
  <p188:cm id="{F537E893-E690-4C97-9134-9221419DB4BD}" authorId="{2625FED7-A17D-7CF3-130C-6A1DC97C4202}" created="2024-04-26T07:07:08.423">
    <ac:deMkLst xmlns:ac="http://schemas.microsoft.com/office/drawing/2013/main/command">
      <pc:docMk xmlns:pc="http://schemas.microsoft.com/office/powerpoint/2013/main/command"/>
      <pc:sldMk xmlns:pc="http://schemas.microsoft.com/office/powerpoint/2013/main/command" cId="2507662157" sldId="260"/>
      <ac:spMk id="8" creationId="{00000000-0000-0000-0000-000000000000}"/>
    </ac:deMkLst>
    <p188:txBody>
      <a:bodyPr/>
      <a:lstStyle/>
      <a:p>
        <a:r>
          <a:rPr lang="ko-KR" altLang="en-US"/>
          <a:t>Explain line and stanza instead of sentence and paragraph level</a:t>
        </a:r>
      </a:p>
    </p188:txBody>
    <p188:extLst>
      <p:ext xmlns:p="http://schemas.openxmlformats.org/presentationml/2006/main" uri="{57CB4572-C831-44C2-8A1C-0ADB6CCDFE69}">
        <p223:reactions xmlns:p223="http://schemas.microsoft.com/office/powerpoint/2022/03/main">
          <p223:rxn type="👍">
            <p223:instance time="2024-04-27T17:18:06.619" authorId="{2625FED7-A17D-7CF3-130C-6A1DC97C4202}"/>
          </p223:rxn>
        </p223:reactions>
      </p:ext>
    </p188:extLst>
  </p188:cm>
</p188:cmLst>
</file>

<file path=ppt/comments/modernComment_106_F9364A72.xml><?xml version="1.0" encoding="utf-8"?>
<p188:cmLst xmlns:a="http://schemas.openxmlformats.org/drawingml/2006/main" xmlns:r="http://schemas.openxmlformats.org/officeDocument/2006/relationships" xmlns:p188="http://schemas.microsoft.com/office/powerpoint/2018/8/main">
  <p188:cm id="{A9663644-77A3-46F7-8589-1E00ED33E189}" authorId="{2625FED7-A17D-7CF3-130C-6A1DC97C4202}" created="2024-04-26T08:55:51.001">
    <ac:txMkLst xmlns:ac="http://schemas.microsoft.com/office/drawing/2013/main/command">
      <pc:docMk xmlns:pc="http://schemas.microsoft.com/office/powerpoint/2013/main/command"/>
      <pc:sldMk xmlns:pc="http://schemas.microsoft.com/office/powerpoint/2013/main/command" cId="4181084786" sldId="262"/>
      <ac:spMk id="8" creationId="{00000000-0000-0000-0000-000000000000}"/>
      <ac:txMk cp="166">
        <ac:context len="305" hash="1928386827"/>
      </ac:txMk>
    </ac:txMkLst>
    <p188:pos x="9432000" y="2193131"/>
    <p188:txBody>
      <a:bodyPr/>
      <a:lstStyle/>
      <a:p>
        <a:r>
          <a:rPr lang="ko-KR" altLang="en-US"/>
          <a:t>Hard to find a balance between wanting to keep the contextual mood of the poems</a:t>
        </a:r>
      </a:p>
    </p188:txBody>
  </p188:cm>
  <p188:cm id="{0449BB0C-DEAA-454D-A360-1F31E8FA5443}" authorId="{2625FED7-A17D-7CF3-130C-6A1DC97C4202}" created="2024-04-26T08:56:18.493">
    <ac:txMkLst xmlns:ac="http://schemas.microsoft.com/office/drawing/2013/main/command">
      <pc:docMk xmlns:pc="http://schemas.microsoft.com/office/powerpoint/2013/main/command"/>
      <pc:sldMk xmlns:pc="http://schemas.microsoft.com/office/powerpoint/2013/main/command" cId="4181084786" sldId="262"/>
      <ac:spMk id="8" creationId="{00000000-0000-0000-0000-000000000000}"/>
      <ac:txMk cp="304">
        <ac:context len="305" hash="1928386827"/>
      </ac:txMk>
    </ac:txMkLst>
    <p188:pos x="1385182" y="525679"/>
    <p188:txBody>
      <a:bodyPr/>
      <a:lstStyle/>
      <a:p>
        <a:r>
          <a:rPr lang="ko-KR" altLang="en-US"/>
          <a:t>In Korean, subject words are often dropped, and more freedom regarding word order as long as the verb is placed at the end.
Insensitive to number and gender agreements and does not use articles. </a:t>
        </a:r>
      </a:p>
    </p188:txBody>
    <p188:extLst>
      <p:ext xmlns:p="http://schemas.openxmlformats.org/presentationml/2006/main" uri="{57CB4572-C831-44C2-8A1C-0ADB6CCDFE69}">
        <p223:reactions xmlns:p223="http://schemas.microsoft.com/office/powerpoint/2022/03/main">
          <p223:rxn type="👍">
            <p223:instance time="2024-04-29T12:37:31.275" authorId="{2625FED7-A17D-7CF3-130C-6A1DC97C4202}"/>
          </p223:rxn>
        </p223:reactions>
      </p:ext>
    </p188:extLst>
  </p188:cm>
  <p188:cm id="{A99A5B97-8AE0-4793-BC36-C97B3E7E5A18}" authorId="{2625FED7-A17D-7CF3-130C-6A1DC97C4202}" created="2024-04-26T08:56:41.370">
    <ac:txMkLst xmlns:ac="http://schemas.microsoft.com/office/drawing/2013/main/command">
      <pc:docMk xmlns:pc="http://schemas.microsoft.com/office/powerpoint/2013/main/command"/>
      <pc:sldMk xmlns:pc="http://schemas.microsoft.com/office/powerpoint/2013/main/command" cId="4181084786" sldId="262"/>
      <ac:spMk id="8" creationId="{00000000-0000-0000-0000-000000000000}"/>
      <ac:txMk cp="304">
        <ac:context len="305" hash="1928386827"/>
      </ac:txMk>
    </ac:txMkLst>
    <p188:pos x="4599436" y="1696388"/>
    <p188:txBody>
      <a:bodyPr/>
      <a:lstStyle/>
      <a:p>
        <a:r>
          <a:rPr lang="ko-KR" altLang="en-US"/>
          <a:t>focus on themes such as social injustice, identity, and existential angst, reflecting the tumultuous history .</a:t>
        </a:r>
      </a:p>
    </p188:txBody>
  </p188:cm>
</p188:cmLst>
</file>

<file path=ppt/comments/modernComment_109_951A6B6B.xml><?xml version="1.0" encoding="utf-8"?>
<p188:cmLst xmlns:a="http://schemas.openxmlformats.org/drawingml/2006/main" xmlns:r="http://schemas.openxmlformats.org/officeDocument/2006/relationships" xmlns:p188="http://schemas.microsoft.com/office/powerpoint/2018/8/main">
  <p188:cm id="{5EBD252D-791E-41F9-881D-5BB485E26E62}" authorId="{2625FED7-A17D-7CF3-130C-6A1DC97C4202}" created="2024-04-24T14:17:23.827">
    <ac:txMkLst xmlns:ac="http://schemas.microsoft.com/office/drawing/2013/main/command">
      <pc:docMk xmlns:pc="http://schemas.microsoft.com/office/powerpoint/2013/main/command"/>
      <pc:sldMk xmlns:pc="http://schemas.microsoft.com/office/powerpoint/2013/main/command" cId="2501536619" sldId="265"/>
      <ac:spMk id="8" creationId="{00000000-0000-0000-0000-000000000000}"/>
      <ac:txMk cp="146" len="3">
        <ac:context len="233" hash="559255112"/>
      </ac:txMk>
    </ac:txMkLst>
    <p188:pos x="8573936" y="829360"/>
    <p188:replyLst>
      <p188:reply id="{3548EF66-AC57-47D8-BBCC-F34C62620882}" authorId="{2625FED7-A17D-7CF3-130C-6A1DC97C4202}" created="2024-04-26T07:08:04.601">
        <p188:txBody>
          <a:bodyPr/>
          <a:lstStyle/>
          <a:p>
            <a:r>
              <a:rPr lang="ko-KR" altLang="en-US"/>
              <a:t>And the reason why adding poetic components preservation </a:t>
            </a:r>
          </a:p>
        </p188:txBody>
      </p188:reply>
      <p188:reply id="{D519DEEC-CB53-40CF-953F-32AB614D411F}" authorId="{2625FED7-A17D-7CF3-130C-6A1DC97C4202}" created="2024-04-26T15:13:19.983">
        <p188:txBody>
          <a:bodyPr/>
          <a:lstStyle/>
          <a:p>
            <a:r>
              <a:rPr lang="ko-KR" altLang="en-US"/>
              <a:t>a Framework for Declaring and Describing Translation Quality Metrics</a:t>
            </a:r>
          </a:p>
        </p188:txBody>
      </p188:reply>
    </p188:replyLst>
    <p188:txBody>
      <a:bodyPr/>
      <a:lstStyle/>
      <a:p>
        <a:r>
          <a:rPr lang="ko-KR" altLang="en-US"/>
          <a:t>Mention it</a:t>
        </a:r>
      </a:p>
    </p188:txBody>
    <p188:extLst>
      <p:ext xmlns:p="http://schemas.openxmlformats.org/presentationml/2006/main" uri="{57CB4572-C831-44C2-8A1C-0ADB6CCDFE69}">
        <p223:reactions xmlns:p223="http://schemas.microsoft.com/office/powerpoint/2022/03/main">
          <p223:rxn type="👍">
            <p223:instance time="2024-04-27T17:18:11.595" authorId="{2625FED7-A17D-7CF3-130C-6A1DC97C4202}"/>
          </p223:rxn>
        </p223:reactions>
      </p:ext>
    </p188:extLst>
  </p188:cm>
  <p188:cm id="{A5255F79-C5A5-4BD3-B5BD-71F1C964188D}" authorId="{2625FED7-A17D-7CF3-130C-6A1DC97C4202}" created="2024-04-26T07:08:34.218">
    <ac:txMkLst xmlns:ac="http://schemas.microsoft.com/office/drawing/2013/main/command">
      <pc:docMk xmlns:pc="http://schemas.microsoft.com/office/powerpoint/2013/main/command"/>
      <pc:sldMk xmlns:pc="http://schemas.microsoft.com/office/powerpoint/2013/main/command" cId="2501536619" sldId="265"/>
      <ac:spMk id="8" creationId="{00000000-0000-0000-0000-000000000000}"/>
      <ac:txMk cp="68" len="16">
        <ac:context len="233" hash="559255112"/>
      </ac:txMk>
    </ac:txMkLst>
    <p188:pos x="3553418" y="523636"/>
    <p188:replyLst>
      <p188:reply id="{CE11E7D6-EB2A-4EA2-A3E8-18E4E6A20E04}" authorId="{2625FED7-A17D-7CF3-130C-6A1DC97C4202}" created="2024-04-26T15:06:52.801">
        <p188:txBody>
          <a:bodyPr/>
          <a:lstStyle/>
          <a:p>
            <a:r>
              <a:rPr lang="ko-KR" altLang="en-US"/>
              <a:t>critical errors still abound, including occasional content omissions, and a human translator’s intervention remains necessary to ensure that the author’s voice remains intact.</a:t>
            </a:r>
          </a:p>
        </p188:txBody>
      </p188:reply>
    </p188:replyLst>
    <p188:txBody>
      <a:bodyPr/>
      <a:lstStyle/>
      <a:p>
        <a:r>
          <a:rPr lang="ko-KR" altLang="en-US"/>
          <a:t>Why conducting human evaluation</a:t>
        </a:r>
      </a:p>
    </p188:txBody>
    <p188:extLst>
      <p:ext xmlns:p="http://schemas.openxmlformats.org/presentationml/2006/main" uri="{57CB4572-C831-44C2-8A1C-0ADB6CCDFE69}">
        <p223:reactions xmlns:p223="http://schemas.microsoft.com/office/powerpoint/2022/03/main">
          <p223:rxn type="👍">
            <p223:instance time="2024-04-27T17:18:16.093" authorId="{2625FED7-A17D-7CF3-130C-6A1DC97C4202}"/>
          </p223:rxn>
        </p223:reactions>
      </p:ext>
    </p188:extLst>
  </p188:cm>
  <p188:cm id="{9397D3FE-8086-4D43-98F9-B24F188B58BD}" authorId="{2625FED7-A17D-7CF3-130C-6A1DC97C4202}" created="2024-04-26T15:10:07.167">
    <ac:txMkLst xmlns:ac="http://schemas.microsoft.com/office/drawing/2013/main/command">
      <pc:docMk xmlns:pc="http://schemas.microsoft.com/office/powerpoint/2013/main/command"/>
      <pc:sldMk xmlns:pc="http://schemas.microsoft.com/office/powerpoint/2013/main/command" cId="2501536619" sldId="265"/>
      <ac:spMk id="8" creationId="{00000000-0000-0000-0000-000000000000}"/>
      <ac:txMk cp="0" len="54">
        <ac:context len="233" hash="559255112"/>
      </ac:txMk>
    </ac:txMkLst>
    <p188:pos x="4217559" y="136937"/>
    <p188:txBody>
      <a:bodyPr/>
      <a:lstStyle/>
      <a:p>
        <a:r>
          <a:rPr lang="ko-KR" altLang="en-US"/>
          <a:t>there are cur
rently no reliable automatic evaluation methods.</a:t>
        </a:r>
      </a:p>
    </p188:txBody>
    <p188:extLst>
      <p:ext xmlns:p="http://schemas.openxmlformats.org/presentationml/2006/main" uri="{57CB4572-C831-44C2-8A1C-0ADB6CCDFE69}">
        <p223:reactions xmlns:p223="http://schemas.microsoft.com/office/powerpoint/2022/03/main">
          <p223:rxn type="👍">
            <p223:instance time="2024-04-27T17:18:24.989" authorId="{2625FED7-A17D-7CF3-130C-6A1DC97C4202}"/>
          </p223:rxn>
        </p223:reactions>
      </p:ext>
    </p188:extLst>
  </p188:cm>
</p188:cmLst>
</file>

<file path=ppt/comments/modernComment_118_B3031070.xml><?xml version="1.0" encoding="utf-8"?>
<p188:cmLst xmlns:a="http://schemas.openxmlformats.org/drawingml/2006/main" xmlns:r="http://schemas.openxmlformats.org/officeDocument/2006/relationships" xmlns:p188="http://schemas.microsoft.com/office/powerpoint/2018/8/main">
  <p188:cm id="{C1155A9B-A4D2-471B-9E89-C055EC8C1B98}" authorId="{2625FED7-A17D-7CF3-130C-6A1DC97C4202}" created="2024-04-26T12:50:32.704">
    <ac:deMkLst xmlns:ac="http://schemas.microsoft.com/office/drawing/2013/main/command">
      <pc:docMk xmlns:pc="http://schemas.microsoft.com/office/powerpoint/2013/main/command"/>
      <pc:sldMk xmlns:pc="http://schemas.microsoft.com/office/powerpoint/2013/main/command" cId="3003322480" sldId="280"/>
      <ac:graphicFrameMk id="21" creationId="{2AB1D59F-D657-969A-A1FE-2854CF69EE33}"/>
    </ac:deMkLst>
    <p188:replyLst>
      <p188:reply id="{33C221B4-9AC9-4292-8CDE-18C6F0DC1F74}" authorId="{2625FED7-A17D-7CF3-130C-6A1DC97C4202}" created="2024-04-26T13:09:18.425">
        <p188:txBody>
          <a:bodyPr/>
          <a:lstStyle/>
          <a:p>
            <a:r>
              <a:rPr lang="ko-KR" altLang="en-US"/>
              <a:t>Stanza &gt; have some issures</a:t>
            </a:r>
          </a:p>
        </p188:txBody>
      </p188:reply>
    </p188:replyLst>
    <p188:txBody>
      <a:bodyPr/>
      <a:lstStyle/>
      <a:p>
        <a:r>
          <a:rPr lang="ko-KR" altLang="en-US"/>
          <a:t> a higher degree of fluctuation</a:t>
        </a:r>
      </a:p>
    </p188:txBody>
    <p188:extLst>
      <p:ext xmlns:p="http://schemas.openxmlformats.org/presentationml/2006/main" uri="{57CB4572-C831-44C2-8A1C-0ADB6CCDFE69}">
        <p223:reactions xmlns:p223="http://schemas.microsoft.com/office/powerpoint/2022/03/main">
          <p223:rxn type="👍">
            <p223:instance time="2024-04-27T17:18:34.540" authorId="{2625FED7-A17D-7CF3-130C-6A1DC97C4202}"/>
          </p223:rxn>
        </p223:reactions>
      </p:ext>
    </p188:extLst>
  </p188:cm>
  <p188:cm id="{DC4FF684-ED44-4318-A835-7C54ABC95C58}" authorId="{2625FED7-A17D-7CF3-130C-6A1DC97C4202}" created="2024-04-26T15:28:03.475">
    <ac:deMkLst xmlns:ac="http://schemas.microsoft.com/office/drawing/2013/main/command">
      <pc:docMk xmlns:pc="http://schemas.microsoft.com/office/powerpoint/2013/main/command"/>
      <pc:sldMk xmlns:pc="http://schemas.microsoft.com/office/powerpoint/2013/main/command" cId="3003322480" sldId="280"/>
      <ac:graphicFrameMk id="21" creationId="{2AB1D59F-D657-969A-A1FE-2854CF69EE33}"/>
    </ac:deMkLst>
    <p188:txBody>
      <a:bodyPr/>
      <a:lstStyle/>
      <a:p>
        <a:r>
          <a:rPr lang="ko-KR" altLang="en-US"/>
          <a:t>X축 y축 표시하기</a:t>
        </a:r>
      </a:p>
    </p188:txBody>
    <p188:extLst>
      <p:ext xmlns:p="http://schemas.openxmlformats.org/presentationml/2006/main" uri="{57CB4572-C831-44C2-8A1C-0ADB6CCDFE69}">
        <p223:reactions xmlns:p223="http://schemas.microsoft.com/office/powerpoint/2022/03/main">
          <p223:rxn type="👍">
            <p223:instance time="2024-04-26T21:39:47.215" authorId="{2625FED7-A17D-7CF3-130C-6A1DC97C4202}"/>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965E5F9-7C68-440D-8F93-DD9A6ECD879E}" type="datetimeFigureOut">
              <a:rPr lang="de-DE" smtClean="0"/>
              <a:t>29.04.2024</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E23BDED-7A90-4264-A83B-2E080B95BFE9}" type="slidenum">
              <a:rPr lang="de-DE" smtClean="0"/>
              <a:t>‹#›</a:t>
            </a:fld>
            <a:endParaRPr lang="de-DE"/>
          </a:p>
        </p:txBody>
      </p:sp>
    </p:spTree>
    <p:extLst>
      <p:ext uri="{BB962C8B-B14F-4D97-AF65-F5344CB8AC3E}">
        <p14:creationId xmlns:p14="http://schemas.microsoft.com/office/powerpoint/2010/main" val="3313416903"/>
      </p:ext>
    </p:extLst>
  </p:cSld>
  <p:clrMap bg1="lt1" tx1="dk1" bg2="lt2" tx2="dk2" accent1="accent1" accent2="accent2" accent3="accent3" accent4="accent4" accent5="accent5" accent6="accent6" hlink="hlink" folHlink="folHlink"/>
  <p:notesStyle>
    <a:lvl1pPr marL="0" algn="l" defTabSz="914305" rtl="0" eaLnBrk="1" latinLnBrk="0" hangingPunct="1">
      <a:defRPr sz="1200" kern="1200">
        <a:solidFill>
          <a:schemeClr val="tx1"/>
        </a:solidFill>
        <a:latin typeface="+mn-lt"/>
        <a:ea typeface="+mn-ea"/>
        <a:cs typeface="+mn-cs"/>
      </a:defRPr>
    </a:lvl1pPr>
    <a:lvl2pPr marL="457152" algn="l" defTabSz="914305" rtl="0" eaLnBrk="1" latinLnBrk="0" hangingPunct="1">
      <a:defRPr sz="1200" kern="1200">
        <a:solidFill>
          <a:schemeClr val="tx1"/>
        </a:solidFill>
        <a:latin typeface="+mn-lt"/>
        <a:ea typeface="+mn-ea"/>
        <a:cs typeface="+mn-cs"/>
      </a:defRPr>
    </a:lvl2pPr>
    <a:lvl3pPr marL="914305" algn="l" defTabSz="914305" rtl="0" eaLnBrk="1" latinLnBrk="0" hangingPunct="1">
      <a:defRPr sz="1200" kern="1200">
        <a:solidFill>
          <a:schemeClr val="tx1"/>
        </a:solidFill>
        <a:latin typeface="+mn-lt"/>
        <a:ea typeface="+mn-ea"/>
        <a:cs typeface="+mn-cs"/>
      </a:defRPr>
    </a:lvl3pPr>
    <a:lvl4pPr marL="1371457" algn="l" defTabSz="914305" rtl="0" eaLnBrk="1" latinLnBrk="0" hangingPunct="1">
      <a:defRPr sz="1200" kern="1200">
        <a:solidFill>
          <a:schemeClr val="tx1"/>
        </a:solidFill>
        <a:latin typeface="+mn-lt"/>
        <a:ea typeface="+mn-ea"/>
        <a:cs typeface="+mn-cs"/>
      </a:defRPr>
    </a:lvl4pPr>
    <a:lvl5pPr marL="1828610" algn="l" defTabSz="914305" rtl="0" eaLnBrk="1" latinLnBrk="0" hangingPunct="1">
      <a:defRPr sz="1200" kern="1200">
        <a:solidFill>
          <a:schemeClr val="tx1"/>
        </a:solidFill>
        <a:latin typeface="+mn-lt"/>
        <a:ea typeface="+mn-ea"/>
        <a:cs typeface="+mn-cs"/>
      </a:defRPr>
    </a:lvl5pPr>
    <a:lvl6pPr marL="2285761" algn="l" defTabSz="914305" rtl="0" eaLnBrk="1" latinLnBrk="0" hangingPunct="1">
      <a:defRPr sz="1200" kern="1200">
        <a:solidFill>
          <a:schemeClr val="tx1"/>
        </a:solidFill>
        <a:latin typeface="+mn-lt"/>
        <a:ea typeface="+mn-ea"/>
        <a:cs typeface="+mn-cs"/>
      </a:defRPr>
    </a:lvl6pPr>
    <a:lvl7pPr marL="2742914" algn="l" defTabSz="914305" rtl="0" eaLnBrk="1" latinLnBrk="0" hangingPunct="1">
      <a:defRPr sz="1200" kern="1200">
        <a:solidFill>
          <a:schemeClr val="tx1"/>
        </a:solidFill>
        <a:latin typeface="+mn-lt"/>
        <a:ea typeface="+mn-ea"/>
        <a:cs typeface="+mn-cs"/>
      </a:defRPr>
    </a:lvl7pPr>
    <a:lvl8pPr marL="3200066" algn="l" defTabSz="914305" rtl="0" eaLnBrk="1" latinLnBrk="0" hangingPunct="1">
      <a:defRPr sz="1200" kern="1200">
        <a:solidFill>
          <a:schemeClr val="tx1"/>
        </a:solidFill>
        <a:latin typeface="+mn-lt"/>
        <a:ea typeface="+mn-ea"/>
        <a:cs typeface="+mn-cs"/>
      </a:defRPr>
    </a:lvl8pPr>
    <a:lvl9pPr marL="3657219" algn="l" defTabSz="91430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800" kern="0" dirty="0">
                <a:effectLst/>
                <a:latin typeface="굴림" panose="020B0600000101010101" pitchFamily="50" charset="-127"/>
                <a:cs typeface="굴림" panose="020B0600000101010101" pitchFamily="50" charset="-127"/>
              </a:rPr>
              <a:t>Hello, my name is Jiyeon Lee and today I’m going to be talking about how well large language models can translate Korean poems into English while preserving its literary quality and cultural depth. </a:t>
            </a:r>
            <a:endParaRPr lang="ko-KR" altLang="en-US" dirty="0"/>
          </a:p>
        </p:txBody>
      </p:sp>
      <p:sp>
        <p:nvSpPr>
          <p:cNvPr id="4" name="슬라이드 번호 개체 틀 3"/>
          <p:cNvSpPr>
            <a:spLocks noGrp="1"/>
          </p:cNvSpPr>
          <p:nvPr>
            <p:ph type="sldNum" sz="quarter" idx="5"/>
          </p:nvPr>
        </p:nvSpPr>
        <p:spPr/>
        <p:txBody>
          <a:bodyPr/>
          <a:lstStyle/>
          <a:p>
            <a:fld id="{DE23BDED-7A90-4264-A83B-2E080B95BFE9}" type="slidenum">
              <a:rPr lang="de-DE" smtClean="0"/>
              <a:t>1</a:t>
            </a:fld>
            <a:endParaRPr lang="de-DE"/>
          </a:p>
        </p:txBody>
      </p:sp>
    </p:spTree>
    <p:extLst>
      <p:ext uri="{BB962C8B-B14F-4D97-AF65-F5344CB8AC3E}">
        <p14:creationId xmlns:p14="http://schemas.microsoft.com/office/powerpoint/2010/main" val="1246315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0">
              <a:lnSpc>
                <a:spcPct val="75000"/>
              </a:lnSpc>
              <a:spcAft>
                <a:spcPts val="800"/>
              </a:spcAft>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I’d like to start by looking at the introduction,</a:t>
            </a: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 </a:t>
            </a:r>
          </a:p>
          <a:p>
            <a:pPr latinLnBrk="0">
              <a:lnSpc>
                <a:spcPct val="75000"/>
              </a:lnSpc>
              <a:spcAft>
                <a:spcPts val="800"/>
              </a:spcAft>
            </a:pPr>
            <a:endPar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In this study, we're not just talking about any translation, we're diving into how advanced AI is revolutionizing literary translation, taking us from sentences to paragraphs. </a:t>
            </a:r>
            <a:endPar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endPar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Despite impressive tech advances, we'll see why human oversight still matters for ensuring translations stay true to the original</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sp>
        <p:nvSpPr>
          <p:cNvPr id="4" name="슬라이드 번호 개체 틀 3"/>
          <p:cNvSpPr>
            <a:spLocks noGrp="1"/>
          </p:cNvSpPr>
          <p:nvPr>
            <p:ph type="sldNum" sz="quarter" idx="5"/>
          </p:nvPr>
        </p:nvSpPr>
        <p:spPr/>
        <p:txBody>
          <a:bodyPr/>
          <a:lstStyle/>
          <a:p>
            <a:fld id="{DE23BDED-7A90-4264-A83B-2E080B95BFE9}" type="slidenum">
              <a:rPr lang="de-DE" smtClean="0"/>
              <a:t>2</a:t>
            </a:fld>
            <a:endParaRPr lang="de-DE"/>
          </a:p>
        </p:txBody>
      </p:sp>
    </p:spTree>
    <p:extLst>
      <p:ext uri="{BB962C8B-B14F-4D97-AF65-F5344CB8AC3E}">
        <p14:creationId xmlns:p14="http://schemas.microsoft.com/office/powerpoint/2010/main" val="1651864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then why does this matter?</a:t>
            </a: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the problem is the evaluation of LLMs for full-document translation, which is rarely done due to the high costs and logistic challenges involved. </a:t>
            </a: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LLMs are typically assessed on sentence-level, where they perform well, but translating entire paragraphs or documents might reveal different results, particularly in maintaining stylistic and contextual integrity.</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and this isn't an easy feat. evaluations are extensive and demanding. this study worked error annotation, this allows us to compare, in-depth, which translations hold true to the author's original intent and poetic style.</a:t>
            </a: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Let’s take a look at the next slide.</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sp>
        <p:nvSpPr>
          <p:cNvPr id="4" name="슬라이드 번호 개체 틀 3"/>
          <p:cNvSpPr>
            <a:spLocks noGrp="1"/>
          </p:cNvSpPr>
          <p:nvPr>
            <p:ph type="sldNum" sz="quarter" idx="5"/>
          </p:nvPr>
        </p:nvSpPr>
        <p:spPr/>
        <p:txBody>
          <a:bodyPr/>
          <a:lstStyle/>
          <a:p>
            <a:fld id="{DE23BDED-7A90-4264-A83B-2E080B95BFE9}" type="slidenum">
              <a:rPr lang="de-DE" smtClean="0"/>
              <a:t>3</a:t>
            </a:fld>
            <a:endParaRPr lang="de-DE"/>
          </a:p>
        </p:txBody>
      </p:sp>
    </p:spTree>
    <p:extLst>
      <p:ext uri="{BB962C8B-B14F-4D97-AF65-F5344CB8AC3E}">
        <p14:creationId xmlns:p14="http://schemas.microsoft.com/office/powerpoint/2010/main" val="125174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800" kern="0" dirty="0">
                <a:effectLst/>
                <a:latin typeface="굴림" panose="020B0600000101010101" pitchFamily="50" charset="-127"/>
                <a:cs typeface="굴림" panose="020B0600000101010101" pitchFamily="50" charset="-127"/>
              </a:rPr>
              <a:t>In dataset, this study created and used a dataset of 50 random Korean poems from workplace by Dr. </a:t>
            </a:r>
            <a:r>
              <a:rPr lang="en-US" altLang="ko-KR" sz="1800" kern="0" dirty="0" err="1">
                <a:effectLst/>
                <a:latin typeface="굴림" panose="020B0600000101010101" pitchFamily="50" charset="-127"/>
                <a:cs typeface="굴림" panose="020B0600000101010101" pitchFamily="50" charset="-127"/>
              </a:rPr>
              <a:t>chae-pyong</a:t>
            </a:r>
            <a:r>
              <a:rPr lang="en-US" altLang="ko-KR" sz="1800" kern="0" dirty="0">
                <a:effectLst/>
                <a:latin typeface="굴림" panose="020B0600000101010101" pitchFamily="50" charset="-127"/>
                <a:cs typeface="굴림" panose="020B0600000101010101" pitchFamily="50" charset="-127"/>
              </a:rPr>
              <a:t> song. </a:t>
            </a:r>
            <a:endParaRPr lang="ko-KR" altLang="en-US" dirty="0"/>
          </a:p>
          <a:p>
            <a:endParaRPr lang="ko-KR" altLang="en-US" dirty="0"/>
          </a:p>
        </p:txBody>
      </p:sp>
      <p:sp>
        <p:nvSpPr>
          <p:cNvPr id="4" name="슬라이드 번호 개체 틀 3"/>
          <p:cNvSpPr>
            <a:spLocks noGrp="1"/>
          </p:cNvSpPr>
          <p:nvPr>
            <p:ph type="sldNum" sz="quarter" idx="5"/>
          </p:nvPr>
        </p:nvSpPr>
        <p:spPr/>
        <p:txBody>
          <a:bodyPr/>
          <a:lstStyle/>
          <a:p>
            <a:fld id="{DE23BDED-7A90-4264-A83B-2E080B95BFE9}" type="slidenum">
              <a:rPr lang="de-DE" smtClean="0"/>
              <a:t>4</a:t>
            </a:fld>
            <a:endParaRPr lang="de-DE"/>
          </a:p>
        </p:txBody>
      </p:sp>
    </p:spTree>
    <p:extLst>
      <p:ext uri="{BB962C8B-B14F-4D97-AF65-F5344CB8AC3E}">
        <p14:creationId xmlns:p14="http://schemas.microsoft.com/office/powerpoint/2010/main" val="3731162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0">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Now, this study translated Korean poems into English, before explaining experiment and evaluation, we need to know about Main features of Korean and Korean poem to help understand.</a:t>
            </a:r>
          </a:p>
          <a:p>
            <a:pPr latinLnBrk="0">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To begin with </a:t>
            </a:r>
            <a:r>
              <a:rPr lang="en-US" altLang="ko-KR" sz="1800" kern="0" dirty="0" err="1">
                <a:effectLst/>
                <a:latin typeface="굴림" panose="020B0600000101010101" pitchFamily="50" charset="-127"/>
                <a:ea typeface="맑은 고딕" panose="020B0503020000020004" pitchFamily="50" charset="-127"/>
                <a:cs typeface="굴림" panose="020B0600000101010101" pitchFamily="50" charset="-127"/>
              </a:rPr>
              <a:t>grammarly</a:t>
            </a: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 The Korean language omits many grammar structures necessary for English communication.</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And have a different and liberal sentence structure more than English.</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In English, words generally have to be put in a specific order or syntax in a sentence to make sense.</a:t>
            </a: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However, in Korean, speakers have much more freedom regarding word order as long as the verb is placed at the end.</a:t>
            </a: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Also, subject words are often dropped when the context is provided. and it is insensitive to number and genders and does not use articles as well.</a:t>
            </a: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 Plus, Korean poets use a lot of poetic techniques such as parallelism, symbolism, metaphor, simile and so on. These devices aren’t just ornaments to the text.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 Lastly, Korean poems offers a deep reflection of the nation’s history, emotions, and cultural values. So most word is carefully chosen and laden with implications its surface meaning.</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sp>
        <p:nvSpPr>
          <p:cNvPr id="4" name="슬라이드 번호 개체 틀 3"/>
          <p:cNvSpPr>
            <a:spLocks noGrp="1"/>
          </p:cNvSpPr>
          <p:nvPr>
            <p:ph type="sldNum" sz="quarter" idx="5"/>
          </p:nvPr>
        </p:nvSpPr>
        <p:spPr/>
        <p:txBody>
          <a:bodyPr/>
          <a:lstStyle/>
          <a:p>
            <a:fld id="{DE23BDED-7A90-4264-A83B-2E080B95BFE9}" type="slidenum">
              <a:rPr lang="de-DE" smtClean="0"/>
              <a:t>5</a:t>
            </a:fld>
            <a:endParaRPr lang="de-DE"/>
          </a:p>
        </p:txBody>
      </p:sp>
    </p:spTree>
    <p:extLst>
      <p:ext uri="{BB962C8B-B14F-4D97-AF65-F5344CB8AC3E}">
        <p14:creationId xmlns:p14="http://schemas.microsoft.com/office/powerpoint/2010/main" val="3636412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Moving on to experiment,</a:t>
            </a: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this study employed LLM Studio with Mistral AI's Mistral 7B. </a:t>
            </a: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Also, before explaining after slide, I’d like to change terms.  Because As we know A poem consists of line and stanza, so here this study will call terms sentence as line and paragraph as stanza. </a:t>
            </a:r>
            <a:endPar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endPar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cs typeface="굴림" panose="020B0600000101010101" pitchFamily="50" charset="-127"/>
              </a:rPr>
              <a:t>So, the datasets were designed by line and stanza, and conducted prompting each of them.</a:t>
            </a:r>
            <a:r>
              <a:rPr lang="ko-KR" altLang="ko-KR" sz="2800" dirty="0">
                <a:effectLst/>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sp>
        <p:nvSpPr>
          <p:cNvPr id="4" name="슬라이드 번호 개체 틀 3"/>
          <p:cNvSpPr>
            <a:spLocks noGrp="1"/>
          </p:cNvSpPr>
          <p:nvPr>
            <p:ph type="sldNum" sz="quarter" idx="5"/>
          </p:nvPr>
        </p:nvSpPr>
        <p:spPr/>
        <p:txBody>
          <a:bodyPr/>
          <a:lstStyle/>
          <a:p>
            <a:fld id="{DE23BDED-7A90-4264-A83B-2E080B95BFE9}" type="slidenum">
              <a:rPr lang="de-DE" smtClean="0"/>
              <a:t>6</a:t>
            </a:fld>
            <a:endParaRPr lang="de-DE"/>
          </a:p>
        </p:txBody>
      </p:sp>
    </p:spTree>
    <p:extLst>
      <p:ext uri="{BB962C8B-B14F-4D97-AF65-F5344CB8AC3E}">
        <p14:creationId xmlns:p14="http://schemas.microsoft.com/office/powerpoint/2010/main" val="2144600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In Evaluation, there are currently no reliable automatic evaluation method,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So, this study conducted human evaluation based on these 5 error annotations by MQM translation errors. </a:t>
            </a:r>
          </a:p>
        </p:txBody>
      </p:sp>
      <p:sp>
        <p:nvSpPr>
          <p:cNvPr id="4" name="슬라이드 번호 개체 틀 3"/>
          <p:cNvSpPr>
            <a:spLocks noGrp="1"/>
          </p:cNvSpPr>
          <p:nvPr>
            <p:ph type="sldNum" sz="quarter" idx="5"/>
          </p:nvPr>
        </p:nvSpPr>
        <p:spPr/>
        <p:txBody>
          <a:bodyPr/>
          <a:lstStyle/>
          <a:p>
            <a:fld id="{DE23BDED-7A90-4264-A83B-2E080B95BFE9}" type="slidenum">
              <a:rPr lang="de-DE" smtClean="0"/>
              <a:t>7</a:t>
            </a:fld>
            <a:endParaRPr lang="de-DE"/>
          </a:p>
        </p:txBody>
      </p:sp>
    </p:spTree>
    <p:extLst>
      <p:ext uri="{BB962C8B-B14F-4D97-AF65-F5344CB8AC3E}">
        <p14:creationId xmlns:p14="http://schemas.microsoft.com/office/powerpoint/2010/main" val="3747131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Let's take a look at this first example poem when we read this poem, we need to read by considering historical background mainly, of course there are a few features of poem as well.</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In both line-level and stanza-level translation, this poem was literary translated, so we can read this poem literary. However, we couldn't catch what this means and what kind of poem it is. the reason is, the author used a way which include the meaning in a word implicatively. in addition, he wrote this poem reflecting the situation of the period because this poem's author lived in colonial period.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So, I will explain a words as examples in this poem.</a:t>
            </a: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Look at the green bold letter, that is “ </a:t>
            </a:r>
            <a:r>
              <a:rPr lang="ko-KR" altLang="ko-KR" sz="1800" kern="0" dirty="0">
                <a:effectLst/>
                <a:latin typeface="맑은 고딕" panose="020B0503020000020004" pitchFamily="50" charset="-127"/>
                <a:ea typeface="굴림" panose="020B0600000101010101" pitchFamily="50" charset="-127"/>
                <a:cs typeface="굴림" panose="020B0600000101010101" pitchFamily="50" charset="-127"/>
              </a:rPr>
              <a:t>모든 죽어가는 것</a:t>
            </a:r>
            <a:r>
              <a:rPr lang="en-US" altLang="ko-KR" sz="1800" kern="0" dirty="0">
                <a:effectLst/>
                <a:latin typeface="맑은 고딕" panose="020B0503020000020004" pitchFamily="50" charset="-127"/>
                <a:ea typeface="굴림" panose="020B0600000101010101" pitchFamily="50" charset="-127"/>
                <a:cs typeface="굴림" panose="020B0600000101010101" pitchFamily="50" charset="-127"/>
              </a:rPr>
              <a:t>”. this was translated “all things that are dying” in line-level translation and “all that's dying away” in stanza-level translation. but we don't catch what this word has meaning. Actually, this word has meaning like all life, Koreans under Japanese rule, oppressed people.</a:t>
            </a:r>
          </a:p>
          <a:p>
            <a:endParaRPr lang="en-US" altLang="ko-KR" sz="1800" kern="0" dirty="0">
              <a:effectLst/>
              <a:latin typeface="맑은 고딕" panose="020B0503020000020004" pitchFamily="50" charset="-127"/>
              <a:ea typeface="굴림" panose="020B0600000101010101" pitchFamily="50" charset="-127"/>
              <a:cs typeface="굴림" panose="020B0600000101010101" pitchFamily="50" charset="-127"/>
            </a:endParaRPr>
          </a:p>
        </p:txBody>
      </p:sp>
      <p:sp>
        <p:nvSpPr>
          <p:cNvPr id="4" name="슬라이드 번호 개체 틀 3"/>
          <p:cNvSpPr>
            <a:spLocks noGrp="1"/>
          </p:cNvSpPr>
          <p:nvPr>
            <p:ph type="sldNum" sz="quarter" idx="5"/>
          </p:nvPr>
        </p:nvSpPr>
        <p:spPr/>
        <p:txBody>
          <a:bodyPr/>
          <a:lstStyle/>
          <a:p>
            <a:fld id="{DE23BDED-7A90-4264-A83B-2E080B95BFE9}" type="slidenum">
              <a:rPr lang="de-DE" smtClean="0"/>
              <a:t>8</a:t>
            </a:fld>
            <a:endParaRPr lang="de-DE"/>
          </a:p>
        </p:txBody>
      </p:sp>
    </p:spTree>
    <p:extLst>
      <p:ext uri="{BB962C8B-B14F-4D97-AF65-F5344CB8AC3E}">
        <p14:creationId xmlns:p14="http://schemas.microsoft.com/office/powerpoint/2010/main" val="4050405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Moving on to the second example, </a:t>
            </a:r>
            <a:r>
              <a:rPr lang="en-US" altLang="ko-KR" sz="1800" kern="0" dirty="0" err="1">
                <a:effectLst/>
                <a:latin typeface="굴림" panose="020B0600000101010101" pitchFamily="50" charset="-127"/>
                <a:ea typeface="맑은 고딕" panose="020B0503020000020004" pitchFamily="50" charset="-127"/>
                <a:cs typeface="굴림" panose="020B0600000101010101" pitchFamily="50" charset="-127"/>
              </a:rPr>
              <a:t>i</a:t>
            </a: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 will explain about yellow highlight and gray highlight together. </a:t>
            </a: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so first, Look at the gray highlight, There are two words </a:t>
            </a:r>
            <a:r>
              <a:rPr lang="ko-KR" altLang="ko-KR" sz="1800" kern="0" dirty="0">
                <a:effectLst/>
                <a:latin typeface="맑은 고딕" panose="020B0503020000020004" pitchFamily="50" charset="-127"/>
                <a:ea typeface="굴림" panose="020B0600000101010101" pitchFamily="50" charset="-127"/>
                <a:cs typeface="굴림" panose="020B0600000101010101" pitchFamily="50" charset="-127"/>
              </a:rPr>
              <a:t>불</a:t>
            </a:r>
            <a:r>
              <a:rPr lang="en-US" altLang="ko-KR" sz="1800" kern="0" dirty="0">
                <a:effectLst/>
                <a:latin typeface="맑은 고딕" panose="020B0503020000020004" pitchFamily="50" charset="-127"/>
                <a:ea typeface="굴림" panose="020B0600000101010101" pitchFamily="50" charset="-127"/>
                <a:cs typeface="굴림" panose="020B0600000101010101" pitchFamily="50" charset="-127"/>
              </a:rPr>
              <a:t> and </a:t>
            </a:r>
            <a:r>
              <a:rPr lang="ko-KR" altLang="ko-KR" sz="1800" kern="0" dirty="0">
                <a:effectLst/>
                <a:latin typeface="맑은 고딕" panose="020B0503020000020004" pitchFamily="50" charset="-127"/>
                <a:ea typeface="굴림" panose="020B0600000101010101" pitchFamily="50" charset="-127"/>
                <a:cs typeface="굴림" panose="020B0600000101010101" pitchFamily="50" charset="-127"/>
              </a:rPr>
              <a:t>꽃</a:t>
            </a:r>
            <a:r>
              <a:rPr lang="en-US" altLang="ko-KR" sz="1800" kern="0" dirty="0">
                <a:effectLst/>
                <a:latin typeface="맑은 고딕" panose="020B0503020000020004" pitchFamily="50" charset="-127"/>
                <a:ea typeface="굴림" panose="020B0600000101010101" pitchFamily="50" charset="-127"/>
                <a:cs typeface="굴림" panose="020B0600000101010101" pitchFamily="50" charset="-127"/>
              </a:rPr>
              <a:t> which mean fire and flower, and both are contrasting word in this poem.</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and on the yellow highlight. they’re the same word in Korean, but they actually refer to different people.</a:t>
            </a: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as </a:t>
            </a:r>
            <a:r>
              <a:rPr lang="en-US" altLang="ko-KR" sz="1800" kern="0" dirty="0" err="1">
                <a:effectLst/>
                <a:latin typeface="굴림" panose="020B0600000101010101" pitchFamily="50" charset="-127"/>
                <a:ea typeface="맑은 고딕" panose="020B0503020000020004" pitchFamily="50" charset="-127"/>
                <a:cs typeface="굴림" panose="020B0600000101010101" pitchFamily="50" charset="-127"/>
              </a:rPr>
              <a:t>i</a:t>
            </a: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 mentioned earlier, fire and flower are contrasting word, so we're not able to express only a person.</a:t>
            </a: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however, In the line-level translation, the yellow ones were translated “A person” apart from one part. On the other hands, in the stanza-level translation, the yellow ones were translated either one person or another.</a:t>
            </a: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LLM captured this well in stanza-level translation considering gray ones.</a:t>
            </a: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And next, look at the blue highlight. In these sentences, we need to consider rhyme more than others. It’s because the end of sentence are the same rhyme. "~</a:t>
            </a:r>
            <a:r>
              <a:rPr lang="ko-KR" altLang="ko-KR" sz="1800" kern="0" dirty="0">
                <a:effectLst/>
                <a:latin typeface="맑은 고딕" panose="020B0503020000020004" pitchFamily="50" charset="-127"/>
                <a:ea typeface="굴림" panose="020B0600000101010101" pitchFamily="50" charset="-127"/>
                <a:cs typeface="굴림" panose="020B0600000101010101" pitchFamily="50" charset="-127"/>
              </a:rPr>
              <a:t>이냐</a:t>
            </a:r>
            <a:r>
              <a:rPr lang="en-US" altLang="ko-KR" sz="1800" kern="0" dirty="0">
                <a:effectLst/>
                <a:latin typeface="맑은 고딕" panose="020B0503020000020004" pitchFamily="50" charset="-127"/>
                <a:ea typeface="굴림" panose="020B0600000101010101" pitchFamily="50" charset="-127"/>
                <a:cs typeface="굴림" panose="020B0600000101010101" pitchFamily="50" charset="-127"/>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r>
              <a:rPr lang="en-US" altLang="ko-KR" sz="1800" kern="0" dirty="0">
                <a:effectLst/>
                <a:latin typeface="굴림" panose="020B0600000101010101" pitchFamily="50" charset="-127"/>
                <a:cs typeface="굴림" panose="020B0600000101010101" pitchFamily="50" charset="-127"/>
              </a:rPr>
              <a:t>So in the stanza translation, well captured. Look at the beginning of sentences, we can see two “is”. but, in the line-level translation, they didn’t detect this rhyme at all.</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sp>
        <p:nvSpPr>
          <p:cNvPr id="4" name="슬라이드 번호 개체 틀 3"/>
          <p:cNvSpPr>
            <a:spLocks noGrp="1"/>
          </p:cNvSpPr>
          <p:nvPr>
            <p:ph type="sldNum" sz="quarter" idx="5"/>
          </p:nvPr>
        </p:nvSpPr>
        <p:spPr/>
        <p:txBody>
          <a:bodyPr/>
          <a:lstStyle/>
          <a:p>
            <a:fld id="{DE23BDED-7A90-4264-A83B-2E080B95BFE9}" type="slidenum">
              <a:rPr lang="de-DE" smtClean="0"/>
              <a:t>9</a:t>
            </a:fld>
            <a:endParaRPr lang="de-DE"/>
          </a:p>
        </p:txBody>
      </p:sp>
    </p:spTree>
    <p:extLst>
      <p:ext uri="{BB962C8B-B14F-4D97-AF65-F5344CB8AC3E}">
        <p14:creationId xmlns:p14="http://schemas.microsoft.com/office/powerpoint/2010/main" val="22628000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with this experiment and evaluation,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Overall, the graph shows us that the quality of the stanza translation, which take into account more context seems to be rated higher than the line translation.</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r>
              <a:rPr lang="en-US" altLang="ko-KR" sz="1800" kern="0" dirty="0">
                <a:effectLst/>
                <a:latin typeface="굴림" panose="020B0600000101010101" pitchFamily="50" charset="-127"/>
                <a:cs typeface="굴림" panose="020B0600000101010101" pitchFamily="50" charset="-127"/>
              </a:rPr>
              <a:t>On the other hand, the line-level translation appears to have more consistent quality scores but are generally rated lower than stanzas.</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sp>
        <p:nvSpPr>
          <p:cNvPr id="4" name="슬라이드 번호 개체 틀 3"/>
          <p:cNvSpPr>
            <a:spLocks noGrp="1"/>
          </p:cNvSpPr>
          <p:nvPr>
            <p:ph type="sldNum" sz="quarter" idx="5"/>
          </p:nvPr>
        </p:nvSpPr>
        <p:spPr/>
        <p:txBody>
          <a:bodyPr/>
          <a:lstStyle/>
          <a:p>
            <a:fld id="{DE23BDED-7A90-4264-A83B-2E080B95BFE9}" type="slidenum">
              <a:rPr lang="de-DE" smtClean="0"/>
              <a:t>10</a:t>
            </a:fld>
            <a:endParaRPr lang="de-DE"/>
          </a:p>
        </p:txBody>
      </p:sp>
    </p:spTree>
    <p:extLst>
      <p:ext uri="{BB962C8B-B14F-4D97-AF65-F5344CB8AC3E}">
        <p14:creationId xmlns:p14="http://schemas.microsoft.com/office/powerpoint/2010/main" val="1050951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to conclude  this study’s presentation,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We've seen that translating stanza-level gives a significant advantage over line-level, providing a richer context and coherence in the translations.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However, there's a delicate balance to maintain.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these are the elements that machines have yet to master, and it highlight the need for human oversight.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sp>
        <p:nvSpPr>
          <p:cNvPr id="4" name="슬라이드 번호 개체 틀 3"/>
          <p:cNvSpPr>
            <a:spLocks noGrp="1"/>
          </p:cNvSpPr>
          <p:nvPr>
            <p:ph type="sldNum" sz="quarter" idx="5"/>
          </p:nvPr>
        </p:nvSpPr>
        <p:spPr/>
        <p:txBody>
          <a:bodyPr/>
          <a:lstStyle/>
          <a:p>
            <a:fld id="{DE23BDED-7A90-4264-A83B-2E080B95BFE9}" type="slidenum">
              <a:rPr lang="de-DE" smtClean="0"/>
              <a:t>11</a:t>
            </a:fld>
            <a:endParaRPr lang="de-DE"/>
          </a:p>
        </p:txBody>
      </p:sp>
    </p:spTree>
    <p:extLst>
      <p:ext uri="{BB962C8B-B14F-4D97-AF65-F5344CB8AC3E}">
        <p14:creationId xmlns:p14="http://schemas.microsoft.com/office/powerpoint/2010/main" val="3054520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spcAft>
                <a:spcPts val="800"/>
              </a:spcAft>
            </a:pPr>
            <a:r>
              <a:rPr lang="en-US" altLang="ko-KR" sz="1800" kern="100" dirty="0">
                <a:effectLst/>
                <a:latin typeface="굴림" panose="020B0600000101010101" pitchFamily="50" charset="-127"/>
                <a:ea typeface="맑은 고딕" panose="020B0503020000020004" pitchFamily="50" charset="-127"/>
                <a:cs typeface="Times New Roman" panose="02020603050405020304" pitchFamily="18" charset="0"/>
              </a:rPr>
              <a:t>and we've identified limitations. Despite advances, our model still struggles with certain aspects of translation, sometimes missing out on content when converting large paragraph. We must improve this.</a:t>
            </a:r>
          </a:p>
          <a:p>
            <a:pPr latinLnBrk="1">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0">
              <a:lnSpc>
                <a:spcPct val="75000"/>
              </a:lnSpc>
              <a:spcAft>
                <a:spcPts val="800"/>
              </a:spcAft>
            </a:pPr>
            <a:r>
              <a:rPr lang="en-US" altLang="ko-KR" sz="1800" kern="0" dirty="0">
                <a:effectLst/>
                <a:latin typeface="굴림" panose="020B0600000101010101" pitchFamily="50" charset="-127"/>
                <a:ea typeface="맑은 고딕" panose="020B0503020000020004" pitchFamily="50" charset="-127"/>
                <a:cs typeface="굴림" panose="020B0600000101010101" pitchFamily="50" charset="-127"/>
              </a:rPr>
              <a:t>moreover, the process of human evaluation and refinement is time-consuming but essential to preserve the integrity of the translation.</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sp>
        <p:nvSpPr>
          <p:cNvPr id="4" name="슬라이드 번호 개체 틀 3"/>
          <p:cNvSpPr>
            <a:spLocks noGrp="1"/>
          </p:cNvSpPr>
          <p:nvPr>
            <p:ph type="sldNum" sz="quarter" idx="5"/>
          </p:nvPr>
        </p:nvSpPr>
        <p:spPr/>
        <p:txBody>
          <a:bodyPr/>
          <a:lstStyle/>
          <a:p>
            <a:fld id="{DE23BDED-7A90-4264-A83B-2E080B95BFE9}" type="slidenum">
              <a:rPr lang="de-DE" smtClean="0"/>
              <a:t>12</a:t>
            </a:fld>
            <a:endParaRPr lang="de-DE"/>
          </a:p>
        </p:txBody>
      </p:sp>
    </p:spTree>
    <p:extLst>
      <p:ext uri="{BB962C8B-B14F-4D97-AF65-F5344CB8AC3E}">
        <p14:creationId xmlns:p14="http://schemas.microsoft.com/office/powerpoint/2010/main" val="14155647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DE23BDED-7A90-4264-A83B-2E080B95BFE9}" type="slidenum">
              <a:rPr lang="de-DE" smtClean="0"/>
              <a:t>13</a:t>
            </a:fld>
            <a:endParaRPr lang="de-DE"/>
          </a:p>
        </p:txBody>
      </p:sp>
    </p:spTree>
    <p:extLst>
      <p:ext uri="{BB962C8B-B14F-4D97-AF65-F5344CB8AC3E}">
        <p14:creationId xmlns:p14="http://schemas.microsoft.com/office/powerpoint/2010/main" val="8570445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Thank you for your attention </a:t>
            </a:r>
            <a:r>
              <a:rPr lang="en-US" altLang="ko-KR" dirty="0">
                <a:sym typeface="Wingdings" panose="05000000000000000000" pitchFamily="2" charset="2"/>
              </a:rPr>
              <a:t></a:t>
            </a:r>
            <a:endParaRPr lang="ko-KR" altLang="en-US" dirty="0"/>
          </a:p>
        </p:txBody>
      </p:sp>
      <p:sp>
        <p:nvSpPr>
          <p:cNvPr id="4" name="슬라이드 번호 개체 틀 3"/>
          <p:cNvSpPr>
            <a:spLocks noGrp="1"/>
          </p:cNvSpPr>
          <p:nvPr>
            <p:ph type="sldNum" sz="quarter" idx="5"/>
          </p:nvPr>
        </p:nvSpPr>
        <p:spPr/>
        <p:txBody>
          <a:bodyPr/>
          <a:lstStyle/>
          <a:p>
            <a:fld id="{DE23BDED-7A90-4264-A83B-2E080B95BFE9}" type="slidenum">
              <a:rPr lang="de-DE" smtClean="0"/>
              <a:t>14</a:t>
            </a:fld>
            <a:endParaRPr lang="de-DE"/>
          </a:p>
        </p:txBody>
      </p:sp>
    </p:spTree>
    <p:extLst>
      <p:ext uri="{BB962C8B-B14F-4D97-AF65-F5344CB8AC3E}">
        <p14:creationId xmlns:p14="http://schemas.microsoft.com/office/powerpoint/2010/main" val="27411846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mit Bild (Schloss)">
    <p:spTree>
      <p:nvGrpSpPr>
        <p:cNvPr id="1" name=""/>
        <p:cNvGrpSpPr/>
        <p:nvPr/>
      </p:nvGrpSpPr>
      <p:grpSpPr>
        <a:xfrm>
          <a:off x="0" y="0"/>
          <a:ext cx="0" cy="0"/>
          <a:chOff x="0" y="0"/>
          <a:chExt cx="0" cy="0"/>
        </a:xfrm>
      </p:grpSpPr>
      <p:sp>
        <p:nvSpPr>
          <p:cNvPr id="2" name="Titel 1"/>
          <p:cNvSpPr>
            <a:spLocks noGrp="1"/>
          </p:cNvSpPr>
          <p:nvPr>
            <p:ph type="ctrTitle"/>
          </p:nvPr>
        </p:nvSpPr>
        <p:spPr>
          <a:xfrm>
            <a:off x="1378800" y="612000"/>
            <a:ext cx="7307503" cy="468108"/>
          </a:xfrm>
        </p:spPr>
        <p:txBody>
          <a:bodyPr/>
          <a:lstStyle/>
          <a:p>
            <a:r>
              <a:rPr lang="ko-KR" altLang="en-US"/>
              <a:t>마스터 제목 스타일 편집</a:t>
            </a:r>
            <a:endParaRPr lang="de-DE" dirty="0"/>
          </a:p>
        </p:txBody>
      </p:sp>
      <p:sp>
        <p:nvSpPr>
          <p:cNvPr id="3" name="Untertitel 2"/>
          <p:cNvSpPr>
            <a:spLocks noGrp="1"/>
          </p:cNvSpPr>
          <p:nvPr>
            <p:ph type="subTitle" idx="1"/>
          </p:nvPr>
        </p:nvSpPr>
        <p:spPr>
          <a:xfrm>
            <a:off x="1378800" y="1080000"/>
            <a:ext cx="7307503" cy="396092"/>
          </a:xfrm>
        </p:spPr>
        <p:txBody>
          <a:bodyPr/>
          <a:lstStyle>
            <a:lvl1pPr marL="0" indent="0" algn="l">
              <a:buNone/>
              <a:defRPr sz="2400">
                <a:solidFill>
                  <a:srgbClr val="003056"/>
                </a:solidFill>
              </a:defRPr>
            </a:lvl1pPr>
            <a:lvl2pPr marL="457152" indent="0" algn="ctr">
              <a:buNone/>
              <a:defRPr>
                <a:solidFill>
                  <a:schemeClr val="tx1">
                    <a:tint val="75000"/>
                  </a:schemeClr>
                </a:solidFill>
              </a:defRPr>
            </a:lvl2pPr>
            <a:lvl3pPr marL="914305" indent="0" algn="ctr">
              <a:buNone/>
              <a:defRPr>
                <a:solidFill>
                  <a:schemeClr val="tx1">
                    <a:tint val="75000"/>
                  </a:schemeClr>
                </a:solidFill>
              </a:defRPr>
            </a:lvl3pPr>
            <a:lvl4pPr marL="1371457" indent="0" algn="ctr">
              <a:buNone/>
              <a:defRPr>
                <a:solidFill>
                  <a:schemeClr val="tx1">
                    <a:tint val="75000"/>
                  </a:schemeClr>
                </a:solidFill>
              </a:defRPr>
            </a:lvl4pPr>
            <a:lvl5pPr marL="1828610" indent="0" algn="ctr">
              <a:buNone/>
              <a:defRPr>
                <a:solidFill>
                  <a:schemeClr val="tx1">
                    <a:tint val="75000"/>
                  </a:schemeClr>
                </a:solidFill>
              </a:defRPr>
            </a:lvl5pPr>
            <a:lvl6pPr marL="2285761" indent="0" algn="ctr">
              <a:buNone/>
              <a:defRPr>
                <a:solidFill>
                  <a:schemeClr val="tx1">
                    <a:tint val="75000"/>
                  </a:schemeClr>
                </a:solidFill>
              </a:defRPr>
            </a:lvl6pPr>
            <a:lvl7pPr marL="2742914" indent="0" algn="ctr">
              <a:buNone/>
              <a:defRPr>
                <a:solidFill>
                  <a:schemeClr val="tx1">
                    <a:tint val="75000"/>
                  </a:schemeClr>
                </a:solidFill>
              </a:defRPr>
            </a:lvl7pPr>
            <a:lvl8pPr marL="3200066" indent="0" algn="ctr">
              <a:buNone/>
              <a:defRPr>
                <a:solidFill>
                  <a:schemeClr val="tx1">
                    <a:tint val="75000"/>
                  </a:schemeClr>
                </a:solidFill>
              </a:defRPr>
            </a:lvl8pPr>
            <a:lvl9pPr marL="3657219" indent="0" algn="ctr">
              <a:buNone/>
              <a:defRPr>
                <a:solidFill>
                  <a:schemeClr val="tx1">
                    <a:tint val="75000"/>
                  </a:schemeClr>
                </a:solidFill>
              </a:defRPr>
            </a:lvl9pPr>
          </a:lstStyle>
          <a:p>
            <a:r>
              <a:rPr lang="ko-KR" altLang="en-US"/>
              <a:t>클릭하여 마스터 부제목 스타일 편집</a:t>
            </a:r>
            <a:endParaRPr lang="de-DE" dirty="0"/>
          </a:p>
        </p:txBody>
      </p:sp>
      <p:sp>
        <p:nvSpPr>
          <p:cNvPr id="4" name="Datumsplatzhalter 3"/>
          <p:cNvSpPr>
            <a:spLocks noGrp="1"/>
          </p:cNvSpPr>
          <p:nvPr>
            <p:ph type="dt" sz="half" idx="10"/>
          </p:nvPr>
        </p:nvSpPr>
        <p:spPr/>
        <p:txBody>
          <a:bodyPr/>
          <a:lstStyle/>
          <a:p>
            <a:r>
              <a:rPr lang="de-DE"/>
              <a:t>TT.MM.JJJJ</a:t>
            </a:r>
          </a:p>
        </p:txBody>
      </p:sp>
      <p:sp>
        <p:nvSpPr>
          <p:cNvPr id="5" name="Fußzeilenplatzhalter 4"/>
          <p:cNvSpPr>
            <a:spLocks noGrp="1"/>
          </p:cNvSpPr>
          <p:nvPr>
            <p:ph type="ftr" sz="quarter" idx="11"/>
          </p:nvPr>
        </p:nvSpPr>
        <p:spPr/>
        <p:txBody>
          <a:bodyPr/>
          <a:lstStyle/>
          <a:p>
            <a:r>
              <a:rPr lang="de-DE" dirty="0"/>
              <a:t>Beispiel-Fußzeile</a:t>
            </a:r>
          </a:p>
        </p:txBody>
      </p:sp>
      <p:sp>
        <p:nvSpPr>
          <p:cNvPr id="6" name="Foliennummernplatzhalter 5"/>
          <p:cNvSpPr>
            <a:spLocks noGrp="1"/>
          </p:cNvSpPr>
          <p:nvPr>
            <p:ph type="sldNum" sz="quarter" idx="12"/>
          </p:nvPr>
        </p:nvSpPr>
        <p:spPr/>
        <p:txBody>
          <a:bodyPr/>
          <a:lstStyle/>
          <a:p>
            <a:fld id="{FC0CC166-4E39-43B8-AB91-BDD1C4C9E224}" type="slidenum">
              <a:rPr lang="de-DE" smtClean="0"/>
              <a:t>‹#›</a:t>
            </a:fld>
            <a:endParaRPr lang="de-DE"/>
          </a:p>
        </p:txBody>
      </p:sp>
      <p:pic>
        <p:nvPicPr>
          <p:cNvPr id="7" name="Grafik 6"/>
          <p:cNvPicPr>
            <a:picLocks noChangeAspect="1"/>
          </p:cNvPicPr>
          <p:nvPr userDrawn="1"/>
        </p:nvPicPr>
        <p:blipFill rotWithShape="1">
          <a:blip r:embed="rId2" cstate="print">
            <a:extLst>
              <a:ext uri="{28A0092B-C50C-407E-A947-70E740481C1C}">
                <a14:useLocalDpi xmlns:a14="http://schemas.microsoft.com/office/drawing/2010/main" val="0"/>
              </a:ext>
            </a:extLst>
          </a:blip>
          <a:srcRect t="13455" b="41150"/>
          <a:stretch/>
        </p:blipFill>
        <p:spPr>
          <a:xfrm>
            <a:off x="0" y="2178000"/>
            <a:ext cx="12193200" cy="3690000"/>
          </a:xfrm>
          <a:prstGeom prst="rect">
            <a:avLst/>
          </a:prstGeom>
        </p:spPr>
      </p:pic>
    </p:spTree>
    <p:extLst>
      <p:ext uri="{BB962C8B-B14F-4D97-AF65-F5344CB8AC3E}">
        <p14:creationId xmlns:p14="http://schemas.microsoft.com/office/powerpoint/2010/main" val="1760073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Ein beliebiger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ko-KR" altLang="en-US"/>
              <a:t>마스터 제목 스타일 편집</a:t>
            </a:r>
            <a:endParaRPr lang="de-DE" dirty="0"/>
          </a:p>
        </p:txBody>
      </p:sp>
      <p:sp>
        <p:nvSpPr>
          <p:cNvPr id="3" name="Inhaltsplatzhalt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de-DE" dirty="0"/>
          </a:p>
        </p:txBody>
      </p:sp>
      <p:sp>
        <p:nvSpPr>
          <p:cNvPr id="4" name="Datumsplatzhalter 3"/>
          <p:cNvSpPr>
            <a:spLocks noGrp="1"/>
          </p:cNvSpPr>
          <p:nvPr>
            <p:ph type="dt" sz="half" idx="10"/>
          </p:nvPr>
        </p:nvSpPr>
        <p:spPr/>
        <p:txBody>
          <a:bodyPr/>
          <a:lstStyle/>
          <a:p>
            <a:r>
              <a:rPr lang="de-DE"/>
              <a:t>TT.MM.JJJJ</a:t>
            </a:r>
          </a:p>
        </p:txBody>
      </p:sp>
      <p:sp>
        <p:nvSpPr>
          <p:cNvPr id="5" name="Fußzeilenplatzhalter 4"/>
          <p:cNvSpPr>
            <a:spLocks noGrp="1"/>
          </p:cNvSpPr>
          <p:nvPr>
            <p:ph type="ftr" sz="quarter" idx="11"/>
          </p:nvPr>
        </p:nvSpPr>
        <p:spPr/>
        <p:txBody>
          <a:bodyPr/>
          <a:lstStyle/>
          <a:p>
            <a:r>
              <a:rPr lang="de-DE" dirty="0"/>
              <a:t>Beispiel-Fußzeile</a:t>
            </a:r>
          </a:p>
        </p:txBody>
      </p:sp>
      <p:sp>
        <p:nvSpPr>
          <p:cNvPr id="6" name="Foliennummernplatzhalter 5"/>
          <p:cNvSpPr>
            <a:spLocks noGrp="1"/>
          </p:cNvSpPr>
          <p:nvPr>
            <p:ph type="sldNum" sz="quarter" idx="12"/>
          </p:nvPr>
        </p:nvSpPr>
        <p:spPr/>
        <p:txBody>
          <a:bodyPr/>
          <a:lstStyle/>
          <a:p>
            <a:fld id="{FC0CC166-4E39-43B8-AB91-BDD1C4C9E224}" type="slidenum">
              <a:rPr lang="de-DE" smtClean="0"/>
              <a:t>‹#›</a:t>
            </a:fld>
            <a:endParaRPr lang="de-DE" dirty="0"/>
          </a:p>
        </p:txBody>
      </p:sp>
    </p:spTree>
    <p:extLst>
      <p:ext uri="{BB962C8B-B14F-4D97-AF65-F5344CB8AC3E}">
        <p14:creationId xmlns:p14="http://schemas.microsoft.com/office/powerpoint/2010/main" val="227443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mit Bild (individuell)">
    <p:spTree>
      <p:nvGrpSpPr>
        <p:cNvPr id="1" name=""/>
        <p:cNvGrpSpPr/>
        <p:nvPr/>
      </p:nvGrpSpPr>
      <p:grpSpPr>
        <a:xfrm>
          <a:off x="0" y="0"/>
          <a:ext cx="0" cy="0"/>
          <a:chOff x="0" y="0"/>
          <a:chExt cx="0" cy="0"/>
        </a:xfrm>
      </p:grpSpPr>
      <p:sp>
        <p:nvSpPr>
          <p:cNvPr id="2" name="Titel 1"/>
          <p:cNvSpPr>
            <a:spLocks noGrp="1"/>
          </p:cNvSpPr>
          <p:nvPr>
            <p:ph type="ctrTitle"/>
          </p:nvPr>
        </p:nvSpPr>
        <p:spPr>
          <a:xfrm>
            <a:off x="1378800" y="612000"/>
            <a:ext cx="7307503" cy="468108"/>
          </a:xfrm>
        </p:spPr>
        <p:txBody>
          <a:bodyPr/>
          <a:lstStyle/>
          <a:p>
            <a:r>
              <a:rPr lang="ko-KR" altLang="en-US"/>
              <a:t>마스터 제목 스타일 편집</a:t>
            </a:r>
            <a:endParaRPr lang="de-DE" dirty="0"/>
          </a:p>
        </p:txBody>
      </p:sp>
      <p:sp>
        <p:nvSpPr>
          <p:cNvPr id="3" name="Untertitel 2"/>
          <p:cNvSpPr>
            <a:spLocks noGrp="1"/>
          </p:cNvSpPr>
          <p:nvPr>
            <p:ph type="subTitle" idx="1"/>
          </p:nvPr>
        </p:nvSpPr>
        <p:spPr>
          <a:xfrm>
            <a:off x="1378800" y="1080000"/>
            <a:ext cx="7307503" cy="396092"/>
          </a:xfrm>
        </p:spPr>
        <p:txBody>
          <a:bodyPr/>
          <a:lstStyle>
            <a:lvl1pPr marL="0" indent="0" algn="l">
              <a:buNone/>
              <a:defRPr sz="2400">
                <a:solidFill>
                  <a:srgbClr val="003056"/>
                </a:solidFill>
              </a:defRPr>
            </a:lvl1pPr>
            <a:lvl2pPr marL="457152" indent="0" algn="ctr">
              <a:buNone/>
              <a:defRPr>
                <a:solidFill>
                  <a:schemeClr val="tx1">
                    <a:tint val="75000"/>
                  </a:schemeClr>
                </a:solidFill>
              </a:defRPr>
            </a:lvl2pPr>
            <a:lvl3pPr marL="914305" indent="0" algn="ctr">
              <a:buNone/>
              <a:defRPr>
                <a:solidFill>
                  <a:schemeClr val="tx1">
                    <a:tint val="75000"/>
                  </a:schemeClr>
                </a:solidFill>
              </a:defRPr>
            </a:lvl3pPr>
            <a:lvl4pPr marL="1371457" indent="0" algn="ctr">
              <a:buNone/>
              <a:defRPr>
                <a:solidFill>
                  <a:schemeClr val="tx1">
                    <a:tint val="75000"/>
                  </a:schemeClr>
                </a:solidFill>
              </a:defRPr>
            </a:lvl4pPr>
            <a:lvl5pPr marL="1828610" indent="0" algn="ctr">
              <a:buNone/>
              <a:defRPr>
                <a:solidFill>
                  <a:schemeClr val="tx1">
                    <a:tint val="75000"/>
                  </a:schemeClr>
                </a:solidFill>
              </a:defRPr>
            </a:lvl5pPr>
            <a:lvl6pPr marL="2285761" indent="0" algn="ctr">
              <a:buNone/>
              <a:defRPr>
                <a:solidFill>
                  <a:schemeClr val="tx1">
                    <a:tint val="75000"/>
                  </a:schemeClr>
                </a:solidFill>
              </a:defRPr>
            </a:lvl6pPr>
            <a:lvl7pPr marL="2742914" indent="0" algn="ctr">
              <a:buNone/>
              <a:defRPr>
                <a:solidFill>
                  <a:schemeClr val="tx1">
                    <a:tint val="75000"/>
                  </a:schemeClr>
                </a:solidFill>
              </a:defRPr>
            </a:lvl7pPr>
            <a:lvl8pPr marL="3200066" indent="0" algn="ctr">
              <a:buNone/>
              <a:defRPr>
                <a:solidFill>
                  <a:schemeClr val="tx1">
                    <a:tint val="75000"/>
                  </a:schemeClr>
                </a:solidFill>
              </a:defRPr>
            </a:lvl8pPr>
            <a:lvl9pPr marL="3657219" indent="0" algn="ctr">
              <a:buNone/>
              <a:defRPr>
                <a:solidFill>
                  <a:schemeClr val="tx1">
                    <a:tint val="75000"/>
                  </a:schemeClr>
                </a:solidFill>
              </a:defRPr>
            </a:lvl9pPr>
          </a:lstStyle>
          <a:p>
            <a:r>
              <a:rPr lang="ko-KR" altLang="en-US"/>
              <a:t>클릭하여 마스터 부제목 스타일 편집</a:t>
            </a:r>
            <a:endParaRPr lang="de-DE" dirty="0"/>
          </a:p>
        </p:txBody>
      </p:sp>
      <p:sp>
        <p:nvSpPr>
          <p:cNvPr id="4" name="Datumsplatzhalter 3"/>
          <p:cNvSpPr>
            <a:spLocks noGrp="1"/>
          </p:cNvSpPr>
          <p:nvPr>
            <p:ph type="dt" sz="half" idx="10"/>
          </p:nvPr>
        </p:nvSpPr>
        <p:spPr/>
        <p:txBody>
          <a:bodyPr/>
          <a:lstStyle/>
          <a:p>
            <a:r>
              <a:rPr lang="de-DE"/>
              <a:t>TT.MM.JJJJ</a:t>
            </a:r>
          </a:p>
        </p:txBody>
      </p:sp>
      <p:sp>
        <p:nvSpPr>
          <p:cNvPr id="5" name="Fußzeilenplatzhalter 4"/>
          <p:cNvSpPr>
            <a:spLocks noGrp="1"/>
          </p:cNvSpPr>
          <p:nvPr>
            <p:ph type="ftr" sz="quarter" idx="11"/>
          </p:nvPr>
        </p:nvSpPr>
        <p:spPr/>
        <p:txBody>
          <a:bodyPr/>
          <a:lstStyle/>
          <a:p>
            <a:r>
              <a:rPr lang="de-DE" dirty="0"/>
              <a:t>Beispiel-Fußzeile</a:t>
            </a:r>
          </a:p>
        </p:txBody>
      </p:sp>
      <p:sp>
        <p:nvSpPr>
          <p:cNvPr id="6" name="Foliennummernplatzhalter 5"/>
          <p:cNvSpPr>
            <a:spLocks noGrp="1"/>
          </p:cNvSpPr>
          <p:nvPr>
            <p:ph type="sldNum" sz="quarter" idx="12"/>
          </p:nvPr>
        </p:nvSpPr>
        <p:spPr/>
        <p:txBody>
          <a:bodyPr/>
          <a:lstStyle/>
          <a:p>
            <a:fld id="{FC0CC166-4E39-43B8-AB91-BDD1C4C9E224}" type="slidenum">
              <a:rPr lang="de-DE" smtClean="0"/>
              <a:t>‹#›</a:t>
            </a:fld>
            <a:endParaRPr lang="de-DE" dirty="0"/>
          </a:p>
        </p:txBody>
      </p:sp>
      <p:sp>
        <p:nvSpPr>
          <p:cNvPr id="10" name="Bildplatzhalter 2"/>
          <p:cNvSpPr>
            <a:spLocks noGrp="1"/>
          </p:cNvSpPr>
          <p:nvPr>
            <p:ph type="pic" idx="13"/>
          </p:nvPr>
        </p:nvSpPr>
        <p:spPr>
          <a:xfrm>
            <a:off x="1378800" y="2178000"/>
            <a:ext cx="9432000" cy="3690000"/>
          </a:xfrm>
        </p:spPr>
        <p:txBody>
          <a:bodyPr/>
          <a:lstStyle>
            <a:lvl1pPr marL="0" indent="0">
              <a:buNone/>
              <a:defRPr sz="3200"/>
            </a:lvl1pPr>
            <a:lvl2pPr marL="457152" indent="0">
              <a:buNone/>
              <a:defRPr sz="2800"/>
            </a:lvl2pPr>
            <a:lvl3pPr marL="914305" indent="0">
              <a:buNone/>
              <a:defRPr sz="2400"/>
            </a:lvl3pPr>
            <a:lvl4pPr marL="1371457" indent="0">
              <a:buNone/>
              <a:defRPr sz="2000"/>
            </a:lvl4pPr>
            <a:lvl5pPr marL="1828610" indent="0">
              <a:buNone/>
              <a:defRPr sz="2000"/>
            </a:lvl5pPr>
            <a:lvl6pPr marL="2285761" indent="0">
              <a:buNone/>
              <a:defRPr sz="2000"/>
            </a:lvl6pPr>
            <a:lvl7pPr marL="2742914" indent="0">
              <a:buNone/>
              <a:defRPr sz="2000"/>
            </a:lvl7pPr>
            <a:lvl8pPr marL="3200066" indent="0">
              <a:buNone/>
              <a:defRPr sz="2000"/>
            </a:lvl8pPr>
            <a:lvl9pPr marL="3657219" indent="0">
              <a:buNone/>
              <a:defRPr sz="2000"/>
            </a:lvl9pPr>
          </a:lstStyle>
          <a:p>
            <a:r>
              <a:rPr lang="ko-KR" altLang="en-US"/>
              <a:t>그림을 추가하려면 아이콘을 클릭하십시오</a:t>
            </a:r>
            <a:endParaRPr lang="de-DE" dirty="0"/>
          </a:p>
        </p:txBody>
      </p:sp>
    </p:spTree>
    <p:extLst>
      <p:ext uri="{BB962C8B-B14F-4D97-AF65-F5344CB8AC3E}">
        <p14:creationId xmlns:p14="http://schemas.microsoft.com/office/powerpoint/2010/main" val="488662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elfolie ohne Bild/Abschnittstitel">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913588" y="2713213"/>
            <a:ext cx="10368000" cy="468108"/>
          </a:xfrm>
        </p:spPr>
        <p:txBody>
          <a:bodyPr/>
          <a:lstStyle>
            <a:lvl1pPr algn="ctr">
              <a:defRPr/>
            </a:lvl1pPr>
          </a:lstStyle>
          <a:p>
            <a:r>
              <a:rPr lang="de-DE" dirty="0"/>
              <a:t>Titelmasterformat durch Klicken bearbeiten</a:t>
            </a:r>
            <a:br>
              <a:rPr lang="de-DE" dirty="0"/>
            </a:br>
            <a:endParaRPr lang="de-DE" dirty="0"/>
          </a:p>
        </p:txBody>
      </p:sp>
      <p:sp>
        <p:nvSpPr>
          <p:cNvPr id="3" name="Untertitel 2"/>
          <p:cNvSpPr>
            <a:spLocks noGrp="1"/>
          </p:cNvSpPr>
          <p:nvPr>
            <p:ph type="subTitle" idx="1"/>
          </p:nvPr>
        </p:nvSpPr>
        <p:spPr>
          <a:xfrm>
            <a:off x="1831588" y="3569886"/>
            <a:ext cx="8532000" cy="396092"/>
          </a:xfrm>
        </p:spPr>
        <p:txBody>
          <a:bodyPr/>
          <a:lstStyle>
            <a:lvl1pPr marL="0" indent="0" algn="ctr">
              <a:buNone/>
              <a:defRPr>
                <a:solidFill>
                  <a:srgbClr val="003056"/>
                </a:solidFill>
              </a:defRPr>
            </a:lvl1pPr>
            <a:lvl2pPr marL="457152" indent="0" algn="ctr">
              <a:buNone/>
              <a:defRPr>
                <a:solidFill>
                  <a:schemeClr val="tx1">
                    <a:tint val="75000"/>
                  </a:schemeClr>
                </a:solidFill>
              </a:defRPr>
            </a:lvl2pPr>
            <a:lvl3pPr marL="914305" indent="0" algn="ctr">
              <a:buNone/>
              <a:defRPr>
                <a:solidFill>
                  <a:schemeClr val="tx1">
                    <a:tint val="75000"/>
                  </a:schemeClr>
                </a:solidFill>
              </a:defRPr>
            </a:lvl3pPr>
            <a:lvl4pPr marL="1371457" indent="0" algn="ctr">
              <a:buNone/>
              <a:defRPr>
                <a:solidFill>
                  <a:schemeClr val="tx1">
                    <a:tint val="75000"/>
                  </a:schemeClr>
                </a:solidFill>
              </a:defRPr>
            </a:lvl4pPr>
            <a:lvl5pPr marL="1828610" indent="0" algn="ctr">
              <a:buNone/>
              <a:defRPr>
                <a:solidFill>
                  <a:schemeClr val="tx1">
                    <a:tint val="75000"/>
                  </a:schemeClr>
                </a:solidFill>
              </a:defRPr>
            </a:lvl5pPr>
            <a:lvl6pPr marL="2285761" indent="0" algn="ctr">
              <a:buNone/>
              <a:defRPr>
                <a:solidFill>
                  <a:schemeClr val="tx1">
                    <a:tint val="75000"/>
                  </a:schemeClr>
                </a:solidFill>
              </a:defRPr>
            </a:lvl6pPr>
            <a:lvl7pPr marL="2742914" indent="0" algn="ctr">
              <a:buNone/>
              <a:defRPr>
                <a:solidFill>
                  <a:schemeClr val="tx1">
                    <a:tint val="75000"/>
                  </a:schemeClr>
                </a:solidFill>
              </a:defRPr>
            </a:lvl7pPr>
            <a:lvl8pPr marL="3200066" indent="0" algn="ctr">
              <a:buNone/>
              <a:defRPr>
                <a:solidFill>
                  <a:schemeClr val="tx1">
                    <a:tint val="75000"/>
                  </a:schemeClr>
                </a:solidFill>
              </a:defRPr>
            </a:lvl8pPr>
            <a:lvl9pPr marL="3657219" indent="0" algn="ctr">
              <a:buNone/>
              <a:defRPr>
                <a:solidFill>
                  <a:schemeClr val="tx1">
                    <a:tint val="75000"/>
                  </a:schemeClr>
                </a:solidFill>
              </a:defRPr>
            </a:lvl9pPr>
          </a:lstStyle>
          <a:p>
            <a:r>
              <a:rPr lang="ko-KR" altLang="en-US"/>
              <a:t>클릭하여 마스터 부제목 스타일 편집</a:t>
            </a:r>
            <a:endParaRPr lang="de-DE" dirty="0"/>
          </a:p>
        </p:txBody>
      </p:sp>
      <p:sp>
        <p:nvSpPr>
          <p:cNvPr id="4" name="Datumsplatzhalter 3"/>
          <p:cNvSpPr>
            <a:spLocks noGrp="1"/>
          </p:cNvSpPr>
          <p:nvPr>
            <p:ph type="dt" sz="half" idx="10"/>
          </p:nvPr>
        </p:nvSpPr>
        <p:spPr/>
        <p:txBody>
          <a:bodyPr/>
          <a:lstStyle/>
          <a:p>
            <a:r>
              <a:rPr lang="de-DE"/>
              <a:t>TT.MM.JJJJ</a:t>
            </a:r>
          </a:p>
        </p:txBody>
      </p:sp>
      <p:sp>
        <p:nvSpPr>
          <p:cNvPr id="5" name="Fußzeilenplatzhalter 4"/>
          <p:cNvSpPr>
            <a:spLocks noGrp="1"/>
          </p:cNvSpPr>
          <p:nvPr>
            <p:ph type="ftr" sz="quarter" idx="11"/>
          </p:nvPr>
        </p:nvSpPr>
        <p:spPr/>
        <p:txBody>
          <a:bodyPr/>
          <a:lstStyle/>
          <a:p>
            <a:r>
              <a:rPr lang="de-DE"/>
              <a:t>Beispiel-Fußzeile</a:t>
            </a:r>
          </a:p>
        </p:txBody>
      </p:sp>
      <p:sp>
        <p:nvSpPr>
          <p:cNvPr id="6" name="Foliennummernplatzhalter 5"/>
          <p:cNvSpPr>
            <a:spLocks noGrp="1"/>
          </p:cNvSpPr>
          <p:nvPr>
            <p:ph type="sldNum" sz="quarter" idx="12"/>
          </p:nvPr>
        </p:nvSpPr>
        <p:spPr/>
        <p:txBody>
          <a:bodyPr/>
          <a:lstStyle/>
          <a:p>
            <a:fld id="{FC0CC166-4E39-43B8-AB91-BDD1C4C9E224}" type="slidenum">
              <a:rPr lang="de-DE" smtClean="0"/>
              <a:t>‹#›</a:t>
            </a:fld>
            <a:endParaRPr lang="de-DE"/>
          </a:p>
        </p:txBody>
      </p:sp>
    </p:spTree>
    <p:extLst>
      <p:ext uri="{BB962C8B-B14F-4D97-AF65-F5344CB8AC3E}">
        <p14:creationId xmlns:p14="http://schemas.microsoft.com/office/powerpoint/2010/main" val="119519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Zwei Beliebige Inhalte (1:1) mit Überschrift (1:1)">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ko-KR" altLang="en-US"/>
              <a:t>마스터 제목 스타일 편집</a:t>
            </a:r>
            <a:endParaRPr lang="de-DE" dirty="0"/>
          </a:p>
        </p:txBody>
      </p:sp>
      <p:sp>
        <p:nvSpPr>
          <p:cNvPr id="3" name="Textplatzhalter 2"/>
          <p:cNvSpPr>
            <a:spLocks noGrp="1"/>
          </p:cNvSpPr>
          <p:nvPr>
            <p:ph type="body" idx="1"/>
          </p:nvPr>
        </p:nvSpPr>
        <p:spPr>
          <a:xfrm>
            <a:off x="1378800" y="2178001"/>
            <a:ext cx="4482000" cy="359799"/>
          </a:xfrm>
        </p:spPr>
        <p:txBody>
          <a:bodyPr anchor="b"/>
          <a:lstStyle>
            <a:lvl1pPr marL="0" indent="0">
              <a:buNone/>
              <a:defRPr sz="2400" b="1"/>
            </a:lvl1pPr>
            <a:lvl2pPr marL="457152" indent="0">
              <a:buNone/>
              <a:defRPr sz="2000" b="1"/>
            </a:lvl2pPr>
            <a:lvl3pPr marL="914305" indent="0">
              <a:buNone/>
              <a:defRPr sz="1800" b="1"/>
            </a:lvl3pPr>
            <a:lvl4pPr marL="1371457" indent="0">
              <a:buNone/>
              <a:defRPr sz="1600" b="1"/>
            </a:lvl4pPr>
            <a:lvl5pPr marL="1828610" indent="0">
              <a:buNone/>
              <a:defRPr sz="1600" b="1"/>
            </a:lvl5pPr>
            <a:lvl6pPr marL="2285761" indent="0">
              <a:buNone/>
              <a:defRPr sz="1600" b="1"/>
            </a:lvl6pPr>
            <a:lvl7pPr marL="2742914" indent="0">
              <a:buNone/>
              <a:defRPr sz="1600" b="1"/>
            </a:lvl7pPr>
            <a:lvl8pPr marL="3200066" indent="0">
              <a:buNone/>
              <a:defRPr sz="1600" b="1"/>
            </a:lvl8pPr>
            <a:lvl9pPr marL="3657219" indent="0">
              <a:buNone/>
              <a:defRPr sz="1600" b="1"/>
            </a:lvl9pPr>
          </a:lstStyle>
          <a:p>
            <a:pPr lvl="0"/>
            <a:r>
              <a:rPr lang="ko-KR" altLang="en-US"/>
              <a:t>마스터 텍스트 스타일을 편집하려면 클릭</a:t>
            </a:r>
          </a:p>
        </p:txBody>
      </p:sp>
      <p:sp>
        <p:nvSpPr>
          <p:cNvPr id="4" name="Inhaltsplatzhalter 3"/>
          <p:cNvSpPr>
            <a:spLocks noGrp="1"/>
          </p:cNvSpPr>
          <p:nvPr>
            <p:ph sz="half" idx="2"/>
          </p:nvPr>
        </p:nvSpPr>
        <p:spPr>
          <a:xfrm>
            <a:off x="1378800" y="2548067"/>
            <a:ext cx="4482000" cy="3312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de-DE" dirty="0"/>
          </a:p>
        </p:txBody>
      </p:sp>
      <p:sp>
        <p:nvSpPr>
          <p:cNvPr id="5" name="Textplatzhalter 4"/>
          <p:cNvSpPr>
            <a:spLocks noGrp="1"/>
          </p:cNvSpPr>
          <p:nvPr>
            <p:ph type="body" sz="quarter" idx="3"/>
          </p:nvPr>
        </p:nvSpPr>
        <p:spPr>
          <a:xfrm>
            <a:off x="6332400" y="2178001"/>
            <a:ext cx="4482000" cy="359799"/>
          </a:xfrm>
        </p:spPr>
        <p:txBody>
          <a:bodyPr anchor="b"/>
          <a:lstStyle>
            <a:lvl1pPr marL="0" indent="0">
              <a:buNone/>
              <a:defRPr sz="2400" b="1"/>
            </a:lvl1pPr>
            <a:lvl2pPr marL="457152" indent="0">
              <a:buNone/>
              <a:defRPr sz="2000" b="1"/>
            </a:lvl2pPr>
            <a:lvl3pPr marL="914305" indent="0">
              <a:buNone/>
              <a:defRPr sz="1800" b="1"/>
            </a:lvl3pPr>
            <a:lvl4pPr marL="1371457" indent="0">
              <a:buNone/>
              <a:defRPr sz="1600" b="1"/>
            </a:lvl4pPr>
            <a:lvl5pPr marL="1828610" indent="0">
              <a:buNone/>
              <a:defRPr sz="1600" b="1"/>
            </a:lvl5pPr>
            <a:lvl6pPr marL="2285761" indent="0">
              <a:buNone/>
              <a:defRPr sz="1600" b="1"/>
            </a:lvl6pPr>
            <a:lvl7pPr marL="2742914" indent="0">
              <a:buNone/>
              <a:defRPr sz="1600" b="1"/>
            </a:lvl7pPr>
            <a:lvl8pPr marL="3200066" indent="0">
              <a:buNone/>
              <a:defRPr sz="1600" b="1"/>
            </a:lvl8pPr>
            <a:lvl9pPr marL="3657219" indent="0">
              <a:buNone/>
              <a:defRPr sz="1600" b="1"/>
            </a:lvl9pPr>
          </a:lstStyle>
          <a:p>
            <a:pPr lvl="0"/>
            <a:r>
              <a:rPr lang="ko-KR" altLang="en-US"/>
              <a:t>마스터 텍스트 스타일을 편집하려면 클릭</a:t>
            </a:r>
          </a:p>
        </p:txBody>
      </p:sp>
      <p:sp>
        <p:nvSpPr>
          <p:cNvPr id="6" name="Inhaltsplatzhalter 5"/>
          <p:cNvSpPr>
            <a:spLocks noGrp="1"/>
          </p:cNvSpPr>
          <p:nvPr>
            <p:ph sz="quarter" idx="4"/>
          </p:nvPr>
        </p:nvSpPr>
        <p:spPr>
          <a:xfrm>
            <a:off x="6332400" y="2547278"/>
            <a:ext cx="4482000" cy="3312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de-DE" dirty="0"/>
          </a:p>
        </p:txBody>
      </p:sp>
      <p:sp>
        <p:nvSpPr>
          <p:cNvPr id="7" name="Datumsplatzhalter 6"/>
          <p:cNvSpPr>
            <a:spLocks noGrp="1"/>
          </p:cNvSpPr>
          <p:nvPr>
            <p:ph type="dt" sz="half" idx="10"/>
          </p:nvPr>
        </p:nvSpPr>
        <p:spPr/>
        <p:txBody>
          <a:bodyPr/>
          <a:lstStyle/>
          <a:p>
            <a:r>
              <a:rPr lang="de-DE"/>
              <a:t>TT.MM.JJJJ</a:t>
            </a:r>
          </a:p>
        </p:txBody>
      </p:sp>
      <p:sp>
        <p:nvSpPr>
          <p:cNvPr id="8" name="Fußzeilenplatzhalter 7"/>
          <p:cNvSpPr>
            <a:spLocks noGrp="1"/>
          </p:cNvSpPr>
          <p:nvPr>
            <p:ph type="ftr" sz="quarter" idx="11"/>
          </p:nvPr>
        </p:nvSpPr>
        <p:spPr/>
        <p:txBody>
          <a:bodyPr/>
          <a:lstStyle/>
          <a:p>
            <a:r>
              <a:rPr lang="de-DE"/>
              <a:t>Beispiel-Fußzeile</a:t>
            </a:r>
          </a:p>
        </p:txBody>
      </p:sp>
      <p:sp>
        <p:nvSpPr>
          <p:cNvPr id="9" name="Foliennummernplatzhalter 8"/>
          <p:cNvSpPr>
            <a:spLocks noGrp="1"/>
          </p:cNvSpPr>
          <p:nvPr>
            <p:ph type="sldNum" sz="quarter" idx="12"/>
          </p:nvPr>
        </p:nvSpPr>
        <p:spPr/>
        <p:txBody>
          <a:bodyPr/>
          <a:lstStyle/>
          <a:p>
            <a:fld id="{FC0CC166-4E39-43B8-AB91-BDD1C4C9E224}" type="slidenum">
              <a:rPr lang="de-DE" smtClean="0"/>
              <a:t>‹#›</a:t>
            </a:fld>
            <a:endParaRPr lang="de-DE"/>
          </a:p>
        </p:txBody>
      </p:sp>
    </p:spTree>
    <p:extLst>
      <p:ext uri="{BB962C8B-B14F-4D97-AF65-F5344CB8AC3E}">
        <p14:creationId xmlns:p14="http://schemas.microsoft.com/office/powerpoint/2010/main" val="4014435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und Bild (1:1)">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ko-KR" altLang="en-US"/>
              <a:t>마스터 제목 스타일 편집</a:t>
            </a:r>
            <a:endParaRPr lang="de-DE"/>
          </a:p>
        </p:txBody>
      </p:sp>
      <p:sp>
        <p:nvSpPr>
          <p:cNvPr id="3" name="Inhaltsplatzhalter 2"/>
          <p:cNvSpPr>
            <a:spLocks noGrp="1"/>
          </p:cNvSpPr>
          <p:nvPr>
            <p:ph sz="half" idx="1"/>
          </p:nvPr>
        </p:nvSpPr>
        <p:spPr>
          <a:xfrm>
            <a:off x="1378800" y="2178000"/>
            <a:ext cx="4482000" cy="3690000"/>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de-DE" dirty="0"/>
          </a:p>
        </p:txBody>
      </p:sp>
      <p:sp>
        <p:nvSpPr>
          <p:cNvPr id="5" name="Datumsplatzhalter 4"/>
          <p:cNvSpPr>
            <a:spLocks noGrp="1"/>
          </p:cNvSpPr>
          <p:nvPr>
            <p:ph type="dt" sz="half" idx="10"/>
          </p:nvPr>
        </p:nvSpPr>
        <p:spPr/>
        <p:txBody>
          <a:bodyPr/>
          <a:lstStyle/>
          <a:p>
            <a:r>
              <a:rPr lang="de-DE"/>
              <a:t>TT.MM.JJJJ</a:t>
            </a:r>
          </a:p>
        </p:txBody>
      </p:sp>
      <p:sp>
        <p:nvSpPr>
          <p:cNvPr id="6" name="Fußzeilenplatzhalter 5"/>
          <p:cNvSpPr>
            <a:spLocks noGrp="1"/>
          </p:cNvSpPr>
          <p:nvPr>
            <p:ph type="ftr" sz="quarter" idx="11"/>
          </p:nvPr>
        </p:nvSpPr>
        <p:spPr/>
        <p:txBody>
          <a:bodyPr/>
          <a:lstStyle/>
          <a:p>
            <a:r>
              <a:rPr lang="de-DE"/>
              <a:t>Beispiel-Fußzeile</a:t>
            </a:r>
          </a:p>
        </p:txBody>
      </p:sp>
      <p:sp>
        <p:nvSpPr>
          <p:cNvPr id="7" name="Foliennummernplatzhalter 6"/>
          <p:cNvSpPr>
            <a:spLocks noGrp="1"/>
          </p:cNvSpPr>
          <p:nvPr>
            <p:ph type="sldNum" sz="quarter" idx="12"/>
          </p:nvPr>
        </p:nvSpPr>
        <p:spPr/>
        <p:txBody>
          <a:bodyPr/>
          <a:lstStyle/>
          <a:p>
            <a:fld id="{FC0CC166-4E39-43B8-AB91-BDD1C4C9E224}" type="slidenum">
              <a:rPr lang="de-DE" smtClean="0"/>
              <a:t>‹#›</a:t>
            </a:fld>
            <a:endParaRPr lang="de-DE"/>
          </a:p>
        </p:txBody>
      </p:sp>
      <p:sp>
        <p:nvSpPr>
          <p:cNvPr id="8" name="Bildplatzhalter 2"/>
          <p:cNvSpPr>
            <a:spLocks noGrp="1"/>
          </p:cNvSpPr>
          <p:nvPr>
            <p:ph type="pic" idx="13"/>
          </p:nvPr>
        </p:nvSpPr>
        <p:spPr>
          <a:xfrm>
            <a:off x="6332400" y="2178000"/>
            <a:ext cx="4482000" cy="3690000"/>
          </a:xfrm>
        </p:spPr>
        <p:txBody>
          <a:bodyPr/>
          <a:lstStyle>
            <a:lvl1pPr marL="0" indent="0">
              <a:buNone/>
              <a:defRPr sz="3200"/>
            </a:lvl1pPr>
            <a:lvl2pPr marL="457152" indent="0">
              <a:buNone/>
              <a:defRPr sz="2800"/>
            </a:lvl2pPr>
            <a:lvl3pPr marL="914305" indent="0">
              <a:buNone/>
              <a:defRPr sz="2400"/>
            </a:lvl3pPr>
            <a:lvl4pPr marL="1371457" indent="0">
              <a:buNone/>
              <a:defRPr sz="2000"/>
            </a:lvl4pPr>
            <a:lvl5pPr marL="1828610" indent="0">
              <a:buNone/>
              <a:defRPr sz="2000"/>
            </a:lvl5pPr>
            <a:lvl6pPr marL="2285761" indent="0">
              <a:buNone/>
              <a:defRPr sz="2000"/>
            </a:lvl6pPr>
            <a:lvl7pPr marL="2742914" indent="0">
              <a:buNone/>
              <a:defRPr sz="2000"/>
            </a:lvl7pPr>
            <a:lvl8pPr marL="3200066" indent="0">
              <a:buNone/>
              <a:defRPr sz="2000"/>
            </a:lvl8pPr>
            <a:lvl9pPr marL="3657219" indent="0">
              <a:buNone/>
              <a:defRPr sz="2000"/>
            </a:lvl9pPr>
          </a:lstStyle>
          <a:p>
            <a:r>
              <a:rPr lang="ko-KR" altLang="en-US"/>
              <a:t>그림을 추가하려면 아이콘을 클릭하십시오</a:t>
            </a:r>
            <a:endParaRPr lang="de-DE" dirty="0"/>
          </a:p>
        </p:txBody>
      </p:sp>
    </p:spTree>
    <p:extLst>
      <p:ext uri="{BB962C8B-B14F-4D97-AF65-F5344CB8AC3E}">
        <p14:creationId xmlns:p14="http://schemas.microsoft.com/office/powerpoint/2010/main" val="4268598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und Bild (asymmetris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ko-KR" altLang="en-US"/>
              <a:t>마스터 제목 스타일 편집</a:t>
            </a:r>
            <a:endParaRPr lang="de-DE"/>
          </a:p>
        </p:txBody>
      </p:sp>
      <p:sp>
        <p:nvSpPr>
          <p:cNvPr id="3" name="Inhaltsplatzhalter 2"/>
          <p:cNvSpPr>
            <a:spLocks noGrp="1"/>
          </p:cNvSpPr>
          <p:nvPr>
            <p:ph sz="half" idx="1"/>
          </p:nvPr>
        </p:nvSpPr>
        <p:spPr>
          <a:xfrm>
            <a:off x="1378800" y="2178000"/>
            <a:ext cx="6228000" cy="3690000"/>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de-DE" dirty="0"/>
          </a:p>
        </p:txBody>
      </p:sp>
      <p:sp>
        <p:nvSpPr>
          <p:cNvPr id="5" name="Datumsplatzhalter 4"/>
          <p:cNvSpPr>
            <a:spLocks noGrp="1"/>
          </p:cNvSpPr>
          <p:nvPr>
            <p:ph type="dt" sz="half" idx="10"/>
          </p:nvPr>
        </p:nvSpPr>
        <p:spPr/>
        <p:txBody>
          <a:bodyPr/>
          <a:lstStyle/>
          <a:p>
            <a:r>
              <a:rPr lang="de-DE"/>
              <a:t>TT.MM.JJJJ</a:t>
            </a:r>
          </a:p>
        </p:txBody>
      </p:sp>
      <p:sp>
        <p:nvSpPr>
          <p:cNvPr id="6" name="Fußzeilenplatzhalter 5"/>
          <p:cNvSpPr>
            <a:spLocks noGrp="1"/>
          </p:cNvSpPr>
          <p:nvPr>
            <p:ph type="ftr" sz="quarter" idx="11"/>
          </p:nvPr>
        </p:nvSpPr>
        <p:spPr/>
        <p:txBody>
          <a:bodyPr/>
          <a:lstStyle/>
          <a:p>
            <a:r>
              <a:rPr lang="de-DE"/>
              <a:t>Beispiel-Fußzeile</a:t>
            </a:r>
          </a:p>
        </p:txBody>
      </p:sp>
      <p:sp>
        <p:nvSpPr>
          <p:cNvPr id="7" name="Foliennummernplatzhalter 6"/>
          <p:cNvSpPr>
            <a:spLocks noGrp="1"/>
          </p:cNvSpPr>
          <p:nvPr>
            <p:ph type="sldNum" sz="quarter" idx="12"/>
          </p:nvPr>
        </p:nvSpPr>
        <p:spPr/>
        <p:txBody>
          <a:bodyPr/>
          <a:lstStyle/>
          <a:p>
            <a:fld id="{FC0CC166-4E39-43B8-AB91-BDD1C4C9E224}" type="slidenum">
              <a:rPr lang="de-DE" smtClean="0"/>
              <a:t>‹#›</a:t>
            </a:fld>
            <a:endParaRPr lang="de-DE"/>
          </a:p>
        </p:txBody>
      </p:sp>
      <p:sp>
        <p:nvSpPr>
          <p:cNvPr id="8" name="Bildplatzhalter 2"/>
          <p:cNvSpPr>
            <a:spLocks noGrp="1"/>
          </p:cNvSpPr>
          <p:nvPr>
            <p:ph type="pic" idx="13"/>
          </p:nvPr>
        </p:nvSpPr>
        <p:spPr>
          <a:xfrm>
            <a:off x="8082225" y="2178000"/>
            <a:ext cx="2736000" cy="3690000"/>
          </a:xfrm>
        </p:spPr>
        <p:txBody>
          <a:bodyPr/>
          <a:lstStyle>
            <a:lvl1pPr marL="0" indent="0">
              <a:buNone/>
              <a:defRPr sz="3200"/>
            </a:lvl1pPr>
            <a:lvl2pPr marL="457152" indent="0">
              <a:buNone/>
              <a:defRPr sz="2800"/>
            </a:lvl2pPr>
            <a:lvl3pPr marL="914305" indent="0">
              <a:buNone/>
              <a:defRPr sz="2400"/>
            </a:lvl3pPr>
            <a:lvl4pPr marL="1371457" indent="0">
              <a:buNone/>
              <a:defRPr sz="2000"/>
            </a:lvl4pPr>
            <a:lvl5pPr marL="1828610" indent="0">
              <a:buNone/>
              <a:defRPr sz="2000"/>
            </a:lvl5pPr>
            <a:lvl6pPr marL="2285761" indent="0">
              <a:buNone/>
              <a:defRPr sz="2000"/>
            </a:lvl6pPr>
            <a:lvl7pPr marL="2742914" indent="0">
              <a:buNone/>
              <a:defRPr sz="2000"/>
            </a:lvl7pPr>
            <a:lvl8pPr marL="3200066" indent="0">
              <a:buNone/>
              <a:defRPr sz="2000"/>
            </a:lvl8pPr>
            <a:lvl9pPr marL="3657219" indent="0">
              <a:buNone/>
              <a:defRPr sz="2000"/>
            </a:lvl9pPr>
          </a:lstStyle>
          <a:p>
            <a:r>
              <a:rPr lang="ko-KR" altLang="en-US"/>
              <a:t>그림을 추가하려면 아이콘을 클릭하십시오</a:t>
            </a:r>
            <a:endParaRPr lang="de-DE" dirty="0"/>
          </a:p>
        </p:txBody>
      </p:sp>
    </p:spTree>
    <p:extLst>
      <p:ext uri="{BB962C8B-B14F-4D97-AF65-F5344CB8AC3E}">
        <p14:creationId xmlns:p14="http://schemas.microsoft.com/office/powerpoint/2010/main" val="3549369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1378800" y="612001"/>
            <a:ext cx="6457681" cy="1248289"/>
          </a:xfrm>
          <a:prstGeom prst="rect">
            <a:avLst/>
          </a:prstGeom>
        </p:spPr>
        <p:txBody>
          <a:bodyPr vert="horz" lIns="0" tIns="0" rIns="0" bIns="0" rtlCol="0" anchor="t">
            <a:noAutofit/>
          </a:bodyPr>
          <a:lstStyle/>
          <a:p>
            <a:r>
              <a:rPr lang="de-DE" dirty="0"/>
              <a:t>Titelmasterformat durch Klicken bearbeiten</a:t>
            </a:r>
          </a:p>
        </p:txBody>
      </p:sp>
      <p:sp>
        <p:nvSpPr>
          <p:cNvPr id="3" name="Textplatzhalter 2"/>
          <p:cNvSpPr>
            <a:spLocks noGrp="1"/>
          </p:cNvSpPr>
          <p:nvPr>
            <p:ph type="body" idx="1"/>
          </p:nvPr>
        </p:nvSpPr>
        <p:spPr>
          <a:xfrm>
            <a:off x="1378800" y="2178000"/>
            <a:ext cx="9432000" cy="3690000"/>
          </a:xfrm>
          <a:prstGeom prst="rect">
            <a:avLst/>
          </a:prstGeom>
        </p:spPr>
        <p:txBody>
          <a:bodyPr vert="horz" lIns="0" tIns="0" rIns="0" bIns="0" rtlCol="0" anchor="t">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1378800" y="6314401"/>
            <a:ext cx="2845541" cy="180042"/>
          </a:xfrm>
          <a:prstGeom prst="rect">
            <a:avLst/>
          </a:prstGeom>
        </p:spPr>
        <p:txBody>
          <a:bodyPr vert="horz" lIns="0" tIns="0" rIns="0" bIns="0" rtlCol="0" anchor="t">
            <a:noAutofit/>
          </a:bodyPr>
          <a:lstStyle>
            <a:lvl1pPr algn="l">
              <a:defRPr sz="1200">
                <a:solidFill>
                  <a:srgbClr val="003056"/>
                </a:solidFill>
              </a:defRPr>
            </a:lvl1pPr>
          </a:lstStyle>
          <a:p>
            <a:r>
              <a:rPr lang="de-DE"/>
              <a:t>TT.MM.JJJJ</a:t>
            </a:r>
            <a:endParaRPr lang="de-DE" dirty="0"/>
          </a:p>
        </p:txBody>
      </p:sp>
      <p:sp>
        <p:nvSpPr>
          <p:cNvPr id="5" name="Fußzeilenplatzhalter 4"/>
          <p:cNvSpPr>
            <a:spLocks noGrp="1"/>
          </p:cNvSpPr>
          <p:nvPr>
            <p:ph type="ftr" sz="quarter" idx="3"/>
          </p:nvPr>
        </p:nvSpPr>
        <p:spPr>
          <a:xfrm>
            <a:off x="1378800" y="6062400"/>
            <a:ext cx="3861805" cy="180042"/>
          </a:xfrm>
          <a:prstGeom prst="rect">
            <a:avLst/>
          </a:prstGeom>
        </p:spPr>
        <p:txBody>
          <a:bodyPr vert="horz" lIns="0" tIns="0" rIns="0" bIns="0" rtlCol="0" anchor="t">
            <a:noAutofit/>
          </a:bodyPr>
          <a:lstStyle>
            <a:lvl1pPr algn="l">
              <a:defRPr sz="1200">
                <a:solidFill>
                  <a:srgbClr val="003056"/>
                </a:solidFill>
              </a:defRPr>
            </a:lvl1pPr>
          </a:lstStyle>
          <a:p>
            <a:r>
              <a:rPr lang="de-DE" dirty="0"/>
              <a:t>Beispiel-Fußzeile</a:t>
            </a:r>
          </a:p>
        </p:txBody>
      </p:sp>
      <p:sp>
        <p:nvSpPr>
          <p:cNvPr id="6" name="Foliennummernplatzhalter 5"/>
          <p:cNvSpPr>
            <a:spLocks noGrp="1"/>
          </p:cNvSpPr>
          <p:nvPr>
            <p:ph type="sldNum" sz="quarter" idx="4"/>
          </p:nvPr>
        </p:nvSpPr>
        <p:spPr>
          <a:xfrm>
            <a:off x="9417601" y="6314401"/>
            <a:ext cx="1406313" cy="180042"/>
          </a:xfrm>
          <a:prstGeom prst="rect">
            <a:avLst/>
          </a:prstGeom>
        </p:spPr>
        <p:txBody>
          <a:bodyPr vert="horz" lIns="0" tIns="0" rIns="0" bIns="0" rtlCol="0" anchor="t">
            <a:noAutofit/>
          </a:bodyPr>
          <a:lstStyle>
            <a:lvl1pPr algn="r">
              <a:defRPr sz="1200">
                <a:solidFill>
                  <a:srgbClr val="003056"/>
                </a:solidFill>
              </a:defRPr>
            </a:lvl1pPr>
          </a:lstStyle>
          <a:p>
            <a:fld id="{FC0CC166-4E39-43B8-AB91-BDD1C4C9E224}" type="slidenum">
              <a:rPr lang="de-DE" smtClean="0"/>
              <a:pPr/>
              <a:t>‹#›</a:t>
            </a:fld>
            <a:endParaRPr lang="de-DE" dirty="0"/>
          </a:p>
        </p:txBody>
      </p:sp>
      <p:pic>
        <p:nvPicPr>
          <p:cNvPr id="7" name="Grafik 6"/>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796904" y="306000"/>
            <a:ext cx="2647705" cy="1224000"/>
          </a:xfrm>
          <a:prstGeom prst="rect">
            <a:avLst/>
          </a:prstGeom>
        </p:spPr>
      </p:pic>
    </p:spTree>
    <p:extLst>
      <p:ext uri="{BB962C8B-B14F-4D97-AF65-F5344CB8AC3E}">
        <p14:creationId xmlns:p14="http://schemas.microsoft.com/office/powerpoint/2010/main" val="1976521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60" r:id="rId4"/>
    <p:sldLayoutId id="2147483653" r:id="rId5"/>
    <p:sldLayoutId id="2147483652" r:id="rId6"/>
    <p:sldLayoutId id="2147483662" r:id="rId7"/>
  </p:sldLayoutIdLst>
  <p:hf hdr="0"/>
  <p:txStyles>
    <p:titleStyle>
      <a:lvl1pPr algn="l" defTabSz="914305" rtl="0" eaLnBrk="1" latinLnBrk="1" hangingPunct="1">
        <a:spcBef>
          <a:spcPct val="0"/>
        </a:spcBef>
        <a:buNone/>
        <a:defRPr sz="3000" b="1" kern="1200" baseline="0">
          <a:solidFill>
            <a:srgbClr val="003056"/>
          </a:solidFill>
          <a:latin typeface="+mj-lt"/>
          <a:ea typeface="+mj-ea"/>
          <a:cs typeface="+mj-cs"/>
        </a:defRPr>
      </a:lvl1pPr>
    </p:titleStyle>
    <p:bodyStyle>
      <a:lvl1pPr marL="342864" indent="-342864" algn="l" defTabSz="914305" rtl="0" eaLnBrk="1" latinLnBrk="1" hangingPunct="1">
        <a:spcBef>
          <a:spcPct val="20000"/>
        </a:spcBef>
        <a:buFont typeface="Arial" panose="020B0604020202020204" pitchFamily="34" charset="0"/>
        <a:buChar char="•"/>
        <a:defRPr sz="2400" kern="1200">
          <a:solidFill>
            <a:srgbClr val="003056"/>
          </a:solidFill>
          <a:latin typeface="+mn-lt"/>
          <a:ea typeface="+mn-ea"/>
          <a:cs typeface="+mn-cs"/>
        </a:defRPr>
      </a:lvl1pPr>
      <a:lvl2pPr marL="742873" indent="-285720" algn="l" defTabSz="914305" rtl="0" eaLnBrk="1" latinLnBrk="1" hangingPunct="1">
        <a:spcBef>
          <a:spcPct val="20000"/>
        </a:spcBef>
        <a:buFont typeface="Arial" panose="020B0604020202020204" pitchFamily="34" charset="0"/>
        <a:buChar char="–"/>
        <a:defRPr sz="2000" kern="1200">
          <a:solidFill>
            <a:srgbClr val="003056"/>
          </a:solidFill>
          <a:latin typeface="+mn-lt"/>
          <a:ea typeface="+mn-ea"/>
          <a:cs typeface="+mn-cs"/>
        </a:defRPr>
      </a:lvl2pPr>
      <a:lvl3pPr marL="1142881" indent="-228576" algn="l" defTabSz="914305" rtl="0" eaLnBrk="1" latinLnBrk="1" hangingPunct="1">
        <a:spcBef>
          <a:spcPct val="20000"/>
        </a:spcBef>
        <a:buFont typeface="Arial" panose="020B0604020202020204" pitchFamily="34" charset="0"/>
        <a:buChar char="•"/>
        <a:defRPr sz="1800" kern="1200">
          <a:solidFill>
            <a:srgbClr val="003056"/>
          </a:solidFill>
          <a:latin typeface="+mn-lt"/>
          <a:ea typeface="+mn-ea"/>
          <a:cs typeface="+mn-cs"/>
        </a:defRPr>
      </a:lvl3pPr>
      <a:lvl4pPr marL="1600034" indent="-228576" algn="l" defTabSz="914305" rtl="0" eaLnBrk="1" latinLnBrk="1" hangingPunct="1">
        <a:spcBef>
          <a:spcPct val="20000"/>
        </a:spcBef>
        <a:buFont typeface="Arial" panose="020B0604020202020204" pitchFamily="34" charset="0"/>
        <a:buChar char="–"/>
        <a:defRPr sz="1600" kern="1200">
          <a:solidFill>
            <a:srgbClr val="003056"/>
          </a:solidFill>
          <a:latin typeface="+mn-lt"/>
          <a:ea typeface="+mn-ea"/>
          <a:cs typeface="+mn-cs"/>
        </a:defRPr>
      </a:lvl4pPr>
      <a:lvl5pPr marL="2057185" indent="-228576" algn="l" defTabSz="914305" rtl="0" eaLnBrk="1" latinLnBrk="1" hangingPunct="1">
        <a:spcBef>
          <a:spcPct val="20000"/>
        </a:spcBef>
        <a:buFont typeface="Arial" panose="020B0604020202020204" pitchFamily="34" charset="0"/>
        <a:buChar char="»"/>
        <a:defRPr sz="1600" kern="1200">
          <a:solidFill>
            <a:srgbClr val="003056"/>
          </a:solidFill>
          <a:latin typeface="+mn-lt"/>
          <a:ea typeface="+mn-ea"/>
          <a:cs typeface="+mn-cs"/>
        </a:defRPr>
      </a:lvl5pPr>
      <a:lvl6pPr marL="2514338" indent="-228576" algn="l" defTabSz="91430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490" indent="-228576" algn="l" defTabSz="91430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643" indent="-228576" algn="l" defTabSz="91430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795" indent="-228576" algn="l" defTabSz="91430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305" rtl="0" eaLnBrk="1" latinLnBrk="1" hangingPunct="1">
        <a:defRPr sz="1800" kern="1200">
          <a:solidFill>
            <a:schemeClr val="tx1"/>
          </a:solidFill>
          <a:latin typeface="+mn-lt"/>
          <a:ea typeface="+mn-ea"/>
          <a:cs typeface="+mn-cs"/>
        </a:defRPr>
      </a:lvl1pPr>
      <a:lvl2pPr marL="457152" algn="l" defTabSz="914305" rtl="0" eaLnBrk="1" latinLnBrk="1" hangingPunct="1">
        <a:defRPr sz="1800" kern="1200">
          <a:solidFill>
            <a:schemeClr val="tx1"/>
          </a:solidFill>
          <a:latin typeface="+mn-lt"/>
          <a:ea typeface="+mn-ea"/>
          <a:cs typeface="+mn-cs"/>
        </a:defRPr>
      </a:lvl2pPr>
      <a:lvl3pPr marL="914305" algn="l" defTabSz="914305" rtl="0" eaLnBrk="1" latinLnBrk="1" hangingPunct="1">
        <a:defRPr sz="1800" kern="1200">
          <a:solidFill>
            <a:schemeClr val="tx1"/>
          </a:solidFill>
          <a:latin typeface="+mn-lt"/>
          <a:ea typeface="+mn-ea"/>
          <a:cs typeface="+mn-cs"/>
        </a:defRPr>
      </a:lvl3pPr>
      <a:lvl4pPr marL="1371457" algn="l" defTabSz="914305" rtl="0" eaLnBrk="1" latinLnBrk="1" hangingPunct="1">
        <a:defRPr sz="1800" kern="1200">
          <a:solidFill>
            <a:schemeClr val="tx1"/>
          </a:solidFill>
          <a:latin typeface="+mn-lt"/>
          <a:ea typeface="+mn-ea"/>
          <a:cs typeface="+mn-cs"/>
        </a:defRPr>
      </a:lvl4pPr>
      <a:lvl5pPr marL="1828610" algn="l" defTabSz="914305" rtl="0" eaLnBrk="1" latinLnBrk="1" hangingPunct="1">
        <a:defRPr sz="1800" kern="1200">
          <a:solidFill>
            <a:schemeClr val="tx1"/>
          </a:solidFill>
          <a:latin typeface="+mn-lt"/>
          <a:ea typeface="+mn-ea"/>
          <a:cs typeface="+mn-cs"/>
        </a:defRPr>
      </a:lvl5pPr>
      <a:lvl6pPr marL="2285761" algn="l" defTabSz="914305" rtl="0" eaLnBrk="1" latinLnBrk="1" hangingPunct="1">
        <a:defRPr sz="1800" kern="1200">
          <a:solidFill>
            <a:schemeClr val="tx1"/>
          </a:solidFill>
          <a:latin typeface="+mn-lt"/>
          <a:ea typeface="+mn-ea"/>
          <a:cs typeface="+mn-cs"/>
        </a:defRPr>
      </a:lvl6pPr>
      <a:lvl7pPr marL="2742914" algn="l" defTabSz="914305" rtl="0" eaLnBrk="1" latinLnBrk="1" hangingPunct="1">
        <a:defRPr sz="1800" kern="1200">
          <a:solidFill>
            <a:schemeClr val="tx1"/>
          </a:solidFill>
          <a:latin typeface="+mn-lt"/>
          <a:ea typeface="+mn-ea"/>
          <a:cs typeface="+mn-cs"/>
        </a:defRPr>
      </a:lvl7pPr>
      <a:lvl8pPr marL="3200066" algn="l" defTabSz="914305" rtl="0" eaLnBrk="1" latinLnBrk="1" hangingPunct="1">
        <a:defRPr sz="1800" kern="1200">
          <a:solidFill>
            <a:schemeClr val="tx1"/>
          </a:solidFill>
          <a:latin typeface="+mn-lt"/>
          <a:ea typeface="+mn-ea"/>
          <a:cs typeface="+mn-cs"/>
        </a:defRPr>
      </a:lvl8pPr>
      <a:lvl9pPr marL="3657219" algn="l" defTabSz="914305"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6_F9364A72.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4_9577E34D.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9_951A6B6B.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C_4886808B.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18_B3031070.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jaypsong.blog/"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themqm.org/uses-of-mqm/"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ctrTitle"/>
          </p:nvPr>
        </p:nvSpPr>
        <p:spPr>
          <a:xfrm>
            <a:off x="1378798" y="611992"/>
            <a:ext cx="7307503" cy="468108"/>
          </a:xfrm>
        </p:spPr>
        <p:txBody>
          <a:bodyPr/>
          <a:lstStyle/>
          <a:p>
            <a:r>
              <a:rPr lang="en-US" altLang="ko-KR" sz="2000" b="1" i="0" dirty="0">
                <a:solidFill>
                  <a:srgbClr val="0D0D0D"/>
                </a:solidFill>
                <a:effectLst/>
                <a:highlight>
                  <a:srgbClr val="FFFFFF"/>
                </a:highlight>
                <a:latin typeface="Söhne"/>
              </a:rPr>
              <a:t>Evaluating the Effectiveness of Large Language Models in Translating Korean Poetry into English : </a:t>
            </a:r>
            <a:br>
              <a:rPr lang="en-US" altLang="ko-KR" sz="2000" b="1" i="0" dirty="0">
                <a:solidFill>
                  <a:srgbClr val="0D0D0D"/>
                </a:solidFill>
                <a:effectLst/>
                <a:highlight>
                  <a:srgbClr val="FFFFFF"/>
                </a:highlight>
                <a:latin typeface="Söhne"/>
              </a:rPr>
            </a:br>
            <a:endParaRPr lang="de-DE" sz="2000" dirty="0"/>
          </a:p>
        </p:txBody>
      </p:sp>
      <p:sp>
        <p:nvSpPr>
          <p:cNvPr id="8" name="Untertitel 7"/>
          <p:cNvSpPr>
            <a:spLocks noGrp="1"/>
          </p:cNvSpPr>
          <p:nvPr>
            <p:ph type="subTitle" idx="1"/>
          </p:nvPr>
        </p:nvSpPr>
        <p:spPr>
          <a:xfrm>
            <a:off x="1378799" y="1219994"/>
            <a:ext cx="7307503" cy="396092"/>
          </a:xfrm>
        </p:spPr>
        <p:txBody>
          <a:bodyPr/>
          <a:lstStyle/>
          <a:p>
            <a:r>
              <a:rPr lang="en-US" altLang="ko-KR" sz="2000" b="1" i="0" dirty="0">
                <a:solidFill>
                  <a:srgbClr val="0D0D0D"/>
                </a:solidFill>
                <a:effectLst/>
                <a:highlight>
                  <a:srgbClr val="FFFFFF"/>
                </a:highlight>
                <a:latin typeface="Söhne"/>
              </a:rPr>
              <a:t>Leveraging Document-Level Context to Preserve Literary Quality</a:t>
            </a:r>
            <a:endParaRPr lang="de-DE" sz="2000" dirty="0"/>
          </a:p>
        </p:txBody>
      </p:sp>
      <p:sp>
        <p:nvSpPr>
          <p:cNvPr id="4" name="Datumsplatzhalter 3"/>
          <p:cNvSpPr>
            <a:spLocks noGrp="1"/>
          </p:cNvSpPr>
          <p:nvPr>
            <p:ph type="dt" sz="half" idx="10"/>
          </p:nvPr>
        </p:nvSpPr>
        <p:spPr/>
        <p:txBody>
          <a:bodyPr/>
          <a:lstStyle/>
          <a:p>
            <a:r>
              <a:rPr lang="de-DE" dirty="0"/>
              <a:t>29.04.2024</a:t>
            </a:r>
          </a:p>
        </p:txBody>
      </p:sp>
      <p:sp>
        <p:nvSpPr>
          <p:cNvPr id="5" name="Fußzeilenplatzhalter 4"/>
          <p:cNvSpPr>
            <a:spLocks noGrp="1"/>
          </p:cNvSpPr>
          <p:nvPr>
            <p:ph type="ftr" sz="quarter" idx="11"/>
          </p:nvPr>
        </p:nvSpPr>
        <p:spPr>
          <a:xfrm>
            <a:off x="1378800" y="6062400"/>
            <a:ext cx="6623787" cy="110594"/>
          </a:xfrm>
        </p:spPr>
        <p:txBody>
          <a:bodyPr/>
          <a:lstStyle/>
          <a:p>
            <a:r>
              <a:rPr lang="en-US" dirty="0"/>
              <a:t>Jiyeon Lee</a:t>
            </a:r>
            <a:endParaRPr lang="de-DE" dirty="0"/>
          </a:p>
        </p:txBody>
      </p:sp>
      <p:sp>
        <p:nvSpPr>
          <p:cNvPr id="6" name="Foliennummernplatzhalter 5"/>
          <p:cNvSpPr>
            <a:spLocks noGrp="1"/>
          </p:cNvSpPr>
          <p:nvPr>
            <p:ph type="sldNum" sz="quarter" idx="12"/>
          </p:nvPr>
        </p:nvSpPr>
        <p:spPr/>
        <p:txBody>
          <a:bodyPr/>
          <a:lstStyle/>
          <a:p>
            <a:fld id="{FC0CC166-4E39-43B8-AB91-BDD1C4C9E224}" type="slidenum">
              <a:rPr lang="de-DE" smtClean="0"/>
              <a:t>1</a:t>
            </a:fld>
            <a:endParaRPr lang="de-DE"/>
          </a:p>
        </p:txBody>
      </p:sp>
    </p:spTree>
    <p:extLst>
      <p:ext uri="{BB962C8B-B14F-4D97-AF65-F5344CB8AC3E}">
        <p14:creationId xmlns:p14="http://schemas.microsoft.com/office/powerpoint/2010/main" val="523979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de-DE" dirty="0"/>
              <a:t>Introduction</a:t>
            </a:r>
          </a:p>
        </p:txBody>
      </p:sp>
      <p:sp>
        <p:nvSpPr>
          <p:cNvPr id="8" name="Inhaltsplatzhalter 7"/>
          <p:cNvSpPr>
            <a:spLocks noGrp="1"/>
          </p:cNvSpPr>
          <p:nvPr>
            <p:ph idx="1"/>
          </p:nvPr>
        </p:nvSpPr>
        <p:spPr/>
        <p:txBody>
          <a:bodyPr/>
          <a:lstStyle/>
          <a:p>
            <a:r>
              <a:rPr lang="en-US" altLang="ko-KR" dirty="0">
                <a:highlight>
                  <a:srgbClr val="FFFFFF"/>
                </a:highlight>
                <a:latin typeface="Söhne"/>
              </a:rPr>
              <a:t>E</a:t>
            </a:r>
            <a:r>
              <a:rPr lang="en-US" altLang="ko-KR" b="0" i="0" dirty="0">
                <a:effectLst/>
                <a:highlight>
                  <a:srgbClr val="FFFFFF"/>
                </a:highlight>
                <a:latin typeface="Söhne"/>
              </a:rPr>
              <a:t>xplore how advanced AI models are changing the way we translate literary texts.</a:t>
            </a:r>
          </a:p>
          <a:p>
            <a:pPr lvl="1"/>
            <a:r>
              <a:rPr lang="en-US" altLang="ko-KR" b="0" i="0" dirty="0">
                <a:effectLst/>
                <a:highlight>
                  <a:srgbClr val="FFFFFF"/>
                </a:highlight>
                <a:latin typeface="Söhne"/>
              </a:rPr>
              <a:t>From single sentences to en</a:t>
            </a:r>
            <a:r>
              <a:rPr lang="en-US" altLang="ko-KR" dirty="0">
                <a:highlight>
                  <a:srgbClr val="FFFFFF"/>
                </a:highlight>
                <a:latin typeface="Söhne"/>
              </a:rPr>
              <a:t>tire paragraphs.</a:t>
            </a:r>
            <a:endParaRPr lang="en-US" altLang="ko-KR" b="0" i="0" dirty="0">
              <a:effectLst/>
              <a:highlight>
                <a:srgbClr val="FFFFFF"/>
              </a:highlight>
              <a:latin typeface="Söhne"/>
            </a:endParaRPr>
          </a:p>
          <a:p>
            <a:r>
              <a:rPr lang="en-US" altLang="ko-KR" b="0" i="0" dirty="0">
                <a:effectLst/>
                <a:highlight>
                  <a:srgbClr val="FFFFFF"/>
                </a:highlight>
                <a:latin typeface="Söhne"/>
              </a:rPr>
              <a:t>Discuss why human input remains crucial </a:t>
            </a:r>
          </a:p>
          <a:p>
            <a:pPr lvl="1"/>
            <a:r>
              <a:rPr lang="en-US" altLang="ko-KR" b="0" i="0" dirty="0">
                <a:effectLst/>
                <a:highlight>
                  <a:srgbClr val="FFFFFF"/>
                </a:highlight>
                <a:latin typeface="Söhne"/>
              </a:rPr>
              <a:t>to maintain the quality and authenticity of these translations.</a:t>
            </a:r>
          </a:p>
        </p:txBody>
      </p:sp>
      <p:sp>
        <p:nvSpPr>
          <p:cNvPr id="4" name="Datumsplatzhalter 3"/>
          <p:cNvSpPr>
            <a:spLocks noGrp="1"/>
          </p:cNvSpPr>
          <p:nvPr>
            <p:ph type="dt" sz="half" idx="10"/>
          </p:nvPr>
        </p:nvSpPr>
        <p:spPr/>
        <p:txBody>
          <a:bodyPr/>
          <a:lstStyle/>
          <a:p>
            <a:r>
              <a:rPr lang="de-DE" dirty="0"/>
              <a:t>29.04.2024</a:t>
            </a:r>
          </a:p>
        </p:txBody>
      </p:sp>
      <p:sp>
        <p:nvSpPr>
          <p:cNvPr id="6" name="Foliennummernplatzhalter 5"/>
          <p:cNvSpPr>
            <a:spLocks noGrp="1"/>
          </p:cNvSpPr>
          <p:nvPr>
            <p:ph type="sldNum" sz="quarter" idx="12"/>
          </p:nvPr>
        </p:nvSpPr>
        <p:spPr/>
        <p:txBody>
          <a:bodyPr/>
          <a:lstStyle/>
          <a:p>
            <a:fld id="{FC0CC166-4E39-43B8-AB91-BDD1C4C9E224}" type="slidenum">
              <a:rPr lang="de-DE" smtClean="0"/>
              <a:t>2</a:t>
            </a:fld>
            <a:endParaRPr lang="de-DE"/>
          </a:p>
        </p:txBody>
      </p:sp>
      <p:sp>
        <p:nvSpPr>
          <p:cNvPr id="2" name="Fußzeilenplatzhalter 4">
            <a:extLst>
              <a:ext uri="{FF2B5EF4-FFF2-40B4-BE49-F238E27FC236}">
                <a16:creationId xmlns:a16="http://schemas.microsoft.com/office/drawing/2014/main" id="{462EF74D-529C-793B-8A16-F39118F001A5}"/>
              </a:ext>
            </a:extLst>
          </p:cNvPr>
          <p:cNvSpPr>
            <a:spLocks noGrp="1"/>
          </p:cNvSpPr>
          <p:nvPr>
            <p:ph type="ftr" sz="quarter" idx="11"/>
          </p:nvPr>
        </p:nvSpPr>
        <p:spPr>
          <a:xfrm>
            <a:off x="1378800" y="6062400"/>
            <a:ext cx="6623787" cy="110594"/>
          </a:xfrm>
        </p:spPr>
        <p:txBody>
          <a:bodyPr/>
          <a:lstStyle/>
          <a:p>
            <a:r>
              <a:rPr lang="en-US" altLang="ko-KR" sz="1200" i="0" dirty="0">
                <a:effectLst/>
                <a:highlight>
                  <a:srgbClr val="FFFFFF"/>
                </a:highlight>
                <a:latin typeface="Söhne"/>
              </a:rPr>
              <a:t>Evaluating the Effectiveness of Large Language Models in Translating Korean Poetry into English</a:t>
            </a:r>
            <a:endParaRPr lang="de-DE" dirty="0"/>
          </a:p>
        </p:txBody>
      </p:sp>
    </p:spTree>
    <p:extLst>
      <p:ext uri="{BB962C8B-B14F-4D97-AF65-F5344CB8AC3E}">
        <p14:creationId xmlns:p14="http://schemas.microsoft.com/office/powerpoint/2010/main" val="3804626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en-US" altLang="ko-KR" dirty="0"/>
              <a:t>Problem Statement &amp; Challenges</a:t>
            </a:r>
            <a:endParaRPr lang="de-DE" dirty="0"/>
          </a:p>
        </p:txBody>
      </p:sp>
      <p:sp>
        <p:nvSpPr>
          <p:cNvPr id="8" name="Inhaltsplatzhalter 7"/>
          <p:cNvSpPr>
            <a:spLocks noGrp="1"/>
          </p:cNvSpPr>
          <p:nvPr>
            <p:ph idx="1"/>
          </p:nvPr>
        </p:nvSpPr>
        <p:spPr/>
        <p:txBody>
          <a:bodyPr/>
          <a:lstStyle/>
          <a:p>
            <a:r>
              <a:rPr lang="en-US" altLang="ko-KR" dirty="0"/>
              <a:t>The evaluation of LLMs for full-document translation</a:t>
            </a:r>
          </a:p>
          <a:p>
            <a:pPr lvl="1"/>
            <a:r>
              <a:rPr lang="en-US" altLang="ko-KR" dirty="0"/>
              <a:t>No conduct due to the high costs and logistical challenges involved</a:t>
            </a:r>
          </a:p>
          <a:p>
            <a:r>
              <a:rPr lang="en-US" altLang="ko-KR" dirty="0">
                <a:highlight>
                  <a:srgbClr val="FFFFFF"/>
                </a:highlight>
                <a:latin typeface="Söhne"/>
              </a:rPr>
              <a:t>H</a:t>
            </a:r>
            <a:r>
              <a:rPr lang="en-US" altLang="ko-KR" b="0" i="0" dirty="0">
                <a:effectLst/>
                <a:highlight>
                  <a:srgbClr val="FFFFFF"/>
                </a:highlight>
                <a:latin typeface="Söhne"/>
              </a:rPr>
              <a:t>ighlighting the resource-intensive nature of such evaluations</a:t>
            </a:r>
          </a:p>
          <a:p>
            <a:pPr lvl="1"/>
            <a:r>
              <a:rPr lang="en-US" altLang="ko-KR" b="0" i="0" dirty="0">
                <a:effectLst/>
                <a:highlight>
                  <a:srgbClr val="FFFFFF"/>
                </a:highlight>
                <a:latin typeface="Söhne"/>
              </a:rPr>
              <a:t>Human translators provide detailed annotations of errors and their preferences for translations</a:t>
            </a:r>
            <a:r>
              <a:rPr lang="en-US" altLang="ko-KR" dirty="0">
                <a:highlight>
                  <a:srgbClr val="FFFFFF"/>
                </a:highlight>
                <a:latin typeface="Söhne"/>
              </a:rPr>
              <a:t>.</a:t>
            </a:r>
            <a:r>
              <a:rPr lang="en-US" altLang="ko-KR" b="0" i="0" dirty="0">
                <a:effectLst/>
                <a:highlight>
                  <a:srgbClr val="FFFFFF"/>
                </a:highlight>
                <a:latin typeface="Söhne"/>
              </a:rPr>
              <a:t> </a:t>
            </a:r>
          </a:p>
          <a:p>
            <a:pPr lvl="1"/>
            <a:r>
              <a:rPr lang="en-US" altLang="ko-KR" dirty="0">
                <a:highlight>
                  <a:srgbClr val="FFFFFF"/>
                </a:highlight>
                <a:latin typeface="Söhne"/>
              </a:rPr>
              <a:t>And a</a:t>
            </a:r>
            <a:r>
              <a:rPr lang="en-US" altLang="ko-KR" b="0" i="0" dirty="0">
                <a:effectLst/>
                <a:highlight>
                  <a:srgbClr val="FFFFFF"/>
                </a:highlight>
                <a:latin typeface="Söhne"/>
              </a:rPr>
              <a:t>ssess which translations better retained the author's intent and poetic style.</a:t>
            </a:r>
          </a:p>
        </p:txBody>
      </p:sp>
      <p:sp>
        <p:nvSpPr>
          <p:cNvPr id="4" name="Datumsplatzhalter 3"/>
          <p:cNvSpPr>
            <a:spLocks noGrp="1"/>
          </p:cNvSpPr>
          <p:nvPr>
            <p:ph type="dt" sz="half" idx="10"/>
          </p:nvPr>
        </p:nvSpPr>
        <p:spPr/>
        <p:txBody>
          <a:bodyPr/>
          <a:lstStyle/>
          <a:p>
            <a:r>
              <a:rPr lang="de-DE" dirty="0"/>
              <a:t>29.04.2024</a:t>
            </a:r>
          </a:p>
        </p:txBody>
      </p:sp>
      <p:sp>
        <p:nvSpPr>
          <p:cNvPr id="6" name="Foliennummernplatzhalter 5"/>
          <p:cNvSpPr>
            <a:spLocks noGrp="1"/>
          </p:cNvSpPr>
          <p:nvPr>
            <p:ph type="sldNum" sz="quarter" idx="12"/>
          </p:nvPr>
        </p:nvSpPr>
        <p:spPr/>
        <p:txBody>
          <a:bodyPr/>
          <a:lstStyle/>
          <a:p>
            <a:fld id="{FC0CC166-4E39-43B8-AB91-BDD1C4C9E224}" type="slidenum">
              <a:rPr lang="de-DE" smtClean="0"/>
              <a:t>3</a:t>
            </a:fld>
            <a:endParaRPr lang="de-DE"/>
          </a:p>
        </p:txBody>
      </p:sp>
      <p:sp>
        <p:nvSpPr>
          <p:cNvPr id="2" name="Fußzeilenplatzhalter 4">
            <a:extLst>
              <a:ext uri="{FF2B5EF4-FFF2-40B4-BE49-F238E27FC236}">
                <a16:creationId xmlns:a16="http://schemas.microsoft.com/office/drawing/2014/main" id="{462EF74D-529C-793B-8A16-F39118F001A5}"/>
              </a:ext>
            </a:extLst>
          </p:cNvPr>
          <p:cNvSpPr>
            <a:spLocks noGrp="1"/>
          </p:cNvSpPr>
          <p:nvPr>
            <p:ph type="ftr" sz="quarter" idx="11"/>
          </p:nvPr>
        </p:nvSpPr>
        <p:spPr>
          <a:xfrm>
            <a:off x="1378800" y="6062400"/>
            <a:ext cx="6623787" cy="110594"/>
          </a:xfrm>
        </p:spPr>
        <p:txBody>
          <a:bodyPr/>
          <a:lstStyle/>
          <a:p>
            <a:r>
              <a:rPr lang="en-US" altLang="ko-KR" sz="1200" i="0" dirty="0">
                <a:effectLst/>
                <a:highlight>
                  <a:srgbClr val="FFFFFF"/>
                </a:highlight>
                <a:latin typeface="Söhne"/>
              </a:rPr>
              <a:t>Evaluating the Effectiveness of Large Language Models in Translating Korean Poetry into English</a:t>
            </a:r>
            <a:endParaRPr lang="de-DE" dirty="0"/>
          </a:p>
        </p:txBody>
      </p:sp>
    </p:spTree>
    <p:extLst>
      <p:ext uri="{BB962C8B-B14F-4D97-AF65-F5344CB8AC3E}">
        <p14:creationId xmlns:p14="http://schemas.microsoft.com/office/powerpoint/2010/main" val="4033291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de-DE" dirty="0"/>
              <a:t>Dataset </a:t>
            </a:r>
          </a:p>
        </p:txBody>
      </p:sp>
      <p:sp>
        <p:nvSpPr>
          <p:cNvPr id="8" name="Inhaltsplatzhalter 7"/>
          <p:cNvSpPr>
            <a:spLocks noGrp="1"/>
          </p:cNvSpPr>
          <p:nvPr>
            <p:ph idx="1"/>
          </p:nvPr>
        </p:nvSpPr>
        <p:spPr/>
        <p:txBody>
          <a:bodyPr/>
          <a:lstStyle/>
          <a:p>
            <a:r>
              <a:rPr lang="de-DE" altLang="ko-KR" dirty="0"/>
              <a:t>A set of 50 random Korean poems </a:t>
            </a:r>
            <a:r>
              <a:rPr lang="de-DE" dirty="0"/>
              <a:t>from workplace by Dr. Chae-Pyong</a:t>
            </a:r>
          </a:p>
          <a:p>
            <a:pPr marL="0" indent="0">
              <a:buNone/>
            </a:pPr>
            <a:r>
              <a:rPr lang="de-DE" dirty="0"/>
              <a:t>(„J.P,“) Song</a:t>
            </a:r>
          </a:p>
          <a:p>
            <a:pPr lvl="1"/>
            <a:r>
              <a:rPr lang="de-DE" altLang="ko-KR" dirty="0"/>
              <a:t>Focus on Contemporary Korean poetry.</a:t>
            </a:r>
            <a:endParaRPr lang="de-DE" dirty="0"/>
          </a:p>
        </p:txBody>
      </p:sp>
      <p:sp>
        <p:nvSpPr>
          <p:cNvPr id="4" name="Datumsplatzhalter 3"/>
          <p:cNvSpPr>
            <a:spLocks noGrp="1"/>
          </p:cNvSpPr>
          <p:nvPr>
            <p:ph type="dt" sz="half" idx="10"/>
          </p:nvPr>
        </p:nvSpPr>
        <p:spPr/>
        <p:txBody>
          <a:bodyPr/>
          <a:lstStyle/>
          <a:p>
            <a:r>
              <a:rPr lang="de-DE" dirty="0"/>
              <a:t>29.04.2024</a:t>
            </a:r>
          </a:p>
        </p:txBody>
      </p:sp>
      <p:sp>
        <p:nvSpPr>
          <p:cNvPr id="6" name="Foliennummernplatzhalter 5"/>
          <p:cNvSpPr>
            <a:spLocks noGrp="1"/>
          </p:cNvSpPr>
          <p:nvPr>
            <p:ph type="sldNum" sz="quarter" idx="12"/>
          </p:nvPr>
        </p:nvSpPr>
        <p:spPr/>
        <p:txBody>
          <a:bodyPr/>
          <a:lstStyle/>
          <a:p>
            <a:fld id="{FC0CC166-4E39-43B8-AB91-BDD1C4C9E224}" type="slidenum">
              <a:rPr lang="de-DE" smtClean="0"/>
              <a:t>4</a:t>
            </a:fld>
            <a:endParaRPr lang="de-DE"/>
          </a:p>
        </p:txBody>
      </p:sp>
      <p:sp>
        <p:nvSpPr>
          <p:cNvPr id="2" name="Fußzeilenplatzhalter 4">
            <a:extLst>
              <a:ext uri="{FF2B5EF4-FFF2-40B4-BE49-F238E27FC236}">
                <a16:creationId xmlns:a16="http://schemas.microsoft.com/office/drawing/2014/main" id="{4B1CCF8E-F024-DF7E-B6CB-01E8D242D768}"/>
              </a:ext>
            </a:extLst>
          </p:cNvPr>
          <p:cNvSpPr>
            <a:spLocks noGrp="1"/>
          </p:cNvSpPr>
          <p:nvPr>
            <p:ph type="ftr" sz="quarter" idx="11"/>
          </p:nvPr>
        </p:nvSpPr>
        <p:spPr>
          <a:xfrm>
            <a:off x="1378800" y="6062400"/>
            <a:ext cx="6623787" cy="110594"/>
          </a:xfrm>
        </p:spPr>
        <p:txBody>
          <a:bodyPr/>
          <a:lstStyle/>
          <a:p>
            <a:r>
              <a:rPr lang="en-US" altLang="ko-KR" sz="1200" i="0" dirty="0">
                <a:effectLst/>
                <a:highlight>
                  <a:srgbClr val="FFFFFF"/>
                </a:highlight>
                <a:latin typeface="Söhne"/>
              </a:rPr>
              <a:t>Evaluating the Effectiveness of Large Language Models in Translating Korean Poetry into English</a:t>
            </a:r>
            <a:endParaRPr lang="de-DE" dirty="0"/>
          </a:p>
        </p:txBody>
      </p:sp>
    </p:spTree>
    <p:extLst>
      <p:ext uri="{BB962C8B-B14F-4D97-AF65-F5344CB8AC3E}">
        <p14:creationId xmlns:p14="http://schemas.microsoft.com/office/powerpoint/2010/main" val="3333648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a:xfrm>
            <a:off x="1378800" y="612001"/>
            <a:ext cx="6852387" cy="1248289"/>
          </a:xfrm>
        </p:spPr>
        <p:txBody>
          <a:bodyPr/>
          <a:lstStyle/>
          <a:p>
            <a:r>
              <a:rPr lang="de-DE" dirty="0"/>
              <a:t>Main features of Korean and Korean poem</a:t>
            </a:r>
          </a:p>
        </p:txBody>
      </p:sp>
      <p:sp>
        <p:nvSpPr>
          <p:cNvPr id="8" name="Inhaltsplatzhalter 7"/>
          <p:cNvSpPr>
            <a:spLocks noGrp="1"/>
          </p:cNvSpPr>
          <p:nvPr>
            <p:ph idx="1"/>
          </p:nvPr>
        </p:nvSpPr>
        <p:spPr>
          <a:xfrm>
            <a:off x="1381587" y="2155786"/>
            <a:ext cx="9432000" cy="3690000"/>
          </a:xfrm>
        </p:spPr>
        <p:txBody>
          <a:bodyPr/>
          <a:lstStyle/>
          <a:p>
            <a:r>
              <a:rPr lang="en-US" altLang="ko-KR" dirty="0"/>
              <a:t>Translating from Korean to English</a:t>
            </a:r>
          </a:p>
          <a:p>
            <a:pPr lvl="1"/>
            <a:r>
              <a:rPr lang="en-US" altLang="ko-KR" dirty="0"/>
              <a:t>Omits many grammar structures.</a:t>
            </a:r>
          </a:p>
          <a:p>
            <a:r>
              <a:rPr lang="en-US" altLang="ko-KR" dirty="0"/>
              <a:t>Literary Devices</a:t>
            </a:r>
          </a:p>
          <a:p>
            <a:pPr lvl="1"/>
            <a:r>
              <a:rPr lang="en-US" altLang="ko-KR" dirty="0"/>
              <a:t>Parallelism, Symbolism, Metaphor and simile and so on.</a:t>
            </a:r>
          </a:p>
          <a:p>
            <a:r>
              <a:rPr lang="de-DE" altLang="ko-KR" dirty="0"/>
              <a:t>Deep reflection of korean‘s history, emotions, and cultural values.</a:t>
            </a:r>
          </a:p>
          <a:p>
            <a:pPr lvl="1"/>
            <a:r>
              <a:rPr lang="en-US" altLang="ko-KR" dirty="0"/>
              <a:t>implicative to the use of each word.</a:t>
            </a:r>
          </a:p>
          <a:p>
            <a:pPr lvl="1"/>
            <a:endParaRPr lang="en-US" altLang="ko-KR" dirty="0"/>
          </a:p>
          <a:p>
            <a:pPr marL="457153" lvl="1" indent="0">
              <a:buNone/>
            </a:pPr>
            <a:r>
              <a:rPr lang="de-DE" altLang="ko-KR" b="1" dirty="0"/>
              <a:t>These components are important due to</a:t>
            </a:r>
            <a:r>
              <a:rPr lang="en-US" altLang="ko-KR" b="1" dirty="0"/>
              <a:t> the tone of a poem </a:t>
            </a:r>
            <a:endParaRPr lang="de-DE" altLang="ko-KR" b="1" dirty="0"/>
          </a:p>
          <a:p>
            <a:pPr marL="457153" lvl="1" indent="0">
              <a:buNone/>
            </a:pPr>
            <a:br>
              <a:rPr lang="en-US" altLang="ko-KR" b="1" dirty="0"/>
            </a:br>
            <a:endParaRPr lang="de-DE" altLang="ko-KR" b="1" dirty="0"/>
          </a:p>
          <a:p>
            <a:endParaRPr lang="de-DE" altLang="ko-KR" b="1" dirty="0"/>
          </a:p>
        </p:txBody>
      </p:sp>
      <p:sp>
        <p:nvSpPr>
          <p:cNvPr id="4" name="Datumsplatzhalter 3"/>
          <p:cNvSpPr>
            <a:spLocks noGrp="1"/>
          </p:cNvSpPr>
          <p:nvPr>
            <p:ph type="dt" sz="half" idx="10"/>
          </p:nvPr>
        </p:nvSpPr>
        <p:spPr/>
        <p:txBody>
          <a:bodyPr/>
          <a:lstStyle/>
          <a:p>
            <a:r>
              <a:rPr lang="de-DE" dirty="0"/>
              <a:t>29.04.2024</a:t>
            </a:r>
          </a:p>
        </p:txBody>
      </p:sp>
      <p:sp>
        <p:nvSpPr>
          <p:cNvPr id="6" name="Foliennummernplatzhalter 5"/>
          <p:cNvSpPr>
            <a:spLocks noGrp="1"/>
          </p:cNvSpPr>
          <p:nvPr>
            <p:ph type="sldNum" sz="quarter" idx="12"/>
          </p:nvPr>
        </p:nvSpPr>
        <p:spPr/>
        <p:txBody>
          <a:bodyPr/>
          <a:lstStyle/>
          <a:p>
            <a:fld id="{FC0CC166-4E39-43B8-AB91-BDD1C4C9E224}" type="slidenum">
              <a:rPr lang="de-DE" smtClean="0"/>
              <a:t>5</a:t>
            </a:fld>
            <a:endParaRPr lang="de-DE"/>
          </a:p>
        </p:txBody>
      </p:sp>
      <p:sp>
        <p:nvSpPr>
          <p:cNvPr id="2" name="Fußzeilenplatzhalter 4">
            <a:extLst>
              <a:ext uri="{FF2B5EF4-FFF2-40B4-BE49-F238E27FC236}">
                <a16:creationId xmlns:a16="http://schemas.microsoft.com/office/drawing/2014/main" id="{7D456B66-ECD4-A568-A50C-6287CA1FF686}"/>
              </a:ext>
            </a:extLst>
          </p:cNvPr>
          <p:cNvSpPr>
            <a:spLocks noGrp="1"/>
          </p:cNvSpPr>
          <p:nvPr>
            <p:ph type="ftr" sz="quarter" idx="11"/>
          </p:nvPr>
        </p:nvSpPr>
        <p:spPr>
          <a:xfrm>
            <a:off x="1378800" y="6062400"/>
            <a:ext cx="6623787" cy="110594"/>
          </a:xfrm>
        </p:spPr>
        <p:txBody>
          <a:bodyPr/>
          <a:lstStyle/>
          <a:p>
            <a:r>
              <a:rPr lang="en-US" altLang="ko-KR" sz="1200" i="0" dirty="0">
                <a:effectLst/>
                <a:highlight>
                  <a:srgbClr val="FFFFFF"/>
                </a:highlight>
                <a:latin typeface="Söhne"/>
              </a:rPr>
              <a:t>Evaluating the Effectiveness of Large Language Models in Translating Korean Poetry into English</a:t>
            </a:r>
            <a:endParaRPr lang="de-DE" dirty="0"/>
          </a:p>
        </p:txBody>
      </p:sp>
      <p:sp>
        <p:nvSpPr>
          <p:cNvPr id="3" name="Inhaltsplatzhalter 7">
            <a:extLst>
              <a:ext uri="{FF2B5EF4-FFF2-40B4-BE49-F238E27FC236}">
                <a16:creationId xmlns:a16="http://schemas.microsoft.com/office/drawing/2014/main" id="{1A57BF73-CFCA-38C3-3890-889405983263}"/>
              </a:ext>
            </a:extLst>
          </p:cNvPr>
          <p:cNvSpPr txBox="1">
            <a:spLocks/>
          </p:cNvSpPr>
          <p:nvPr/>
        </p:nvSpPr>
        <p:spPr>
          <a:xfrm>
            <a:off x="1378800" y="2178000"/>
            <a:ext cx="9432000" cy="3690000"/>
          </a:xfrm>
          <a:prstGeom prst="rect">
            <a:avLst/>
          </a:prstGeom>
        </p:spPr>
        <p:txBody>
          <a:bodyPr vert="horz" lIns="0" tIns="0" rIns="0" bIns="0" rtlCol="0" anchor="t">
            <a:noAutofit/>
          </a:bodyPr>
          <a:lstStyle>
            <a:lvl1pPr marL="342864" indent="-342864" algn="l" defTabSz="914305" rtl="0" eaLnBrk="1" latinLnBrk="1" hangingPunct="1">
              <a:spcBef>
                <a:spcPct val="20000"/>
              </a:spcBef>
              <a:buFont typeface="Arial" panose="020B0604020202020204" pitchFamily="34" charset="0"/>
              <a:buChar char="•"/>
              <a:defRPr sz="2400" kern="1200">
                <a:solidFill>
                  <a:srgbClr val="003056"/>
                </a:solidFill>
                <a:latin typeface="+mn-lt"/>
                <a:ea typeface="+mn-ea"/>
                <a:cs typeface="+mn-cs"/>
              </a:defRPr>
            </a:lvl1pPr>
            <a:lvl2pPr marL="742873" indent="-285720" algn="l" defTabSz="914305" rtl="0" eaLnBrk="1" latinLnBrk="1" hangingPunct="1">
              <a:spcBef>
                <a:spcPct val="20000"/>
              </a:spcBef>
              <a:buFont typeface="Arial" panose="020B0604020202020204" pitchFamily="34" charset="0"/>
              <a:buChar char="–"/>
              <a:defRPr sz="2000" kern="1200">
                <a:solidFill>
                  <a:srgbClr val="003056"/>
                </a:solidFill>
                <a:latin typeface="+mn-lt"/>
                <a:ea typeface="+mn-ea"/>
                <a:cs typeface="+mn-cs"/>
              </a:defRPr>
            </a:lvl2pPr>
            <a:lvl3pPr marL="1142881" indent="-228576" algn="l" defTabSz="914305" rtl="0" eaLnBrk="1" latinLnBrk="1" hangingPunct="1">
              <a:spcBef>
                <a:spcPct val="20000"/>
              </a:spcBef>
              <a:buFont typeface="Arial" panose="020B0604020202020204" pitchFamily="34" charset="0"/>
              <a:buChar char="•"/>
              <a:defRPr sz="1800" kern="1200">
                <a:solidFill>
                  <a:srgbClr val="003056"/>
                </a:solidFill>
                <a:latin typeface="+mn-lt"/>
                <a:ea typeface="+mn-ea"/>
                <a:cs typeface="+mn-cs"/>
              </a:defRPr>
            </a:lvl3pPr>
            <a:lvl4pPr marL="1600034" indent="-228576" algn="l" defTabSz="914305" rtl="0" eaLnBrk="1" latinLnBrk="1" hangingPunct="1">
              <a:spcBef>
                <a:spcPct val="20000"/>
              </a:spcBef>
              <a:buFont typeface="Arial" panose="020B0604020202020204" pitchFamily="34" charset="0"/>
              <a:buChar char="–"/>
              <a:defRPr sz="1600" kern="1200">
                <a:solidFill>
                  <a:srgbClr val="003056"/>
                </a:solidFill>
                <a:latin typeface="+mn-lt"/>
                <a:ea typeface="+mn-ea"/>
                <a:cs typeface="+mn-cs"/>
              </a:defRPr>
            </a:lvl4pPr>
            <a:lvl5pPr marL="2057185" indent="-228576" algn="l" defTabSz="914305" rtl="0" eaLnBrk="1" latinLnBrk="1" hangingPunct="1">
              <a:spcBef>
                <a:spcPct val="20000"/>
              </a:spcBef>
              <a:buFont typeface="Arial" panose="020B0604020202020204" pitchFamily="34" charset="0"/>
              <a:buChar char="»"/>
              <a:defRPr sz="1600" kern="1200">
                <a:solidFill>
                  <a:srgbClr val="003056"/>
                </a:solidFill>
                <a:latin typeface="+mn-lt"/>
                <a:ea typeface="+mn-ea"/>
                <a:cs typeface="+mn-cs"/>
              </a:defRPr>
            </a:lvl5pPr>
            <a:lvl6pPr marL="2514338" indent="-228576" algn="l" defTabSz="91430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490" indent="-228576" algn="l" defTabSz="91430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643" indent="-228576" algn="l" defTabSz="91430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795" indent="-228576" algn="l" defTabSz="91430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de-DE" dirty="0"/>
          </a:p>
        </p:txBody>
      </p:sp>
    </p:spTree>
    <p:extLst>
      <p:ext uri="{BB962C8B-B14F-4D97-AF65-F5344CB8AC3E}">
        <p14:creationId xmlns:p14="http://schemas.microsoft.com/office/powerpoint/2010/main" val="4181084786"/>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a:xfrm>
            <a:off x="1378800" y="610394"/>
            <a:ext cx="6457681" cy="1248289"/>
          </a:xfrm>
        </p:spPr>
        <p:txBody>
          <a:bodyPr/>
          <a:lstStyle/>
          <a:p>
            <a:r>
              <a:rPr lang="en-US" altLang="ko-KR" sz="3200" dirty="0"/>
              <a:t>Experiment</a:t>
            </a:r>
          </a:p>
        </p:txBody>
      </p:sp>
      <p:sp>
        <p:nvSpPr>
          <p:cNvPr id="8" name="Inhaltsplatzhalter 7"/>
          <p:cNvSpPr>
            <a:spLocks noGrp="1"/>
          </p:cNvSpPr>
          <p:nvPr>
            <p:ph idx="1"/>
          </p:nvPr>
        </p:nvSpPr>
        <p:spPr/>
        <p:txBody>
          <a:bodyPr/>
          <a:lstStyle/>
          <a:p>
            <a:r>
              <a:rPr lang="de-DE" dirty="0"/>
              <a:t>Use LLM Studio for prompting</a:t>
            </a:r>
          </a:p>
          <a:p>
            <a:pPr lvl="1"/>
            <a:r>
              <a:rPr lang="de-DE" altLang="ko-KR" dirty="0"/>
              <a:t>Mistral-7b-instruct-v0.2.Q4 K_M.gguf</a:t>
            </a:r>
          </a:p>
          <a:p>
            <a:pPr lvl="1"/>
            <a:endParaRPr lang="de-DE" dirty="0"/>
          </a:p>
          <a:p>
            <a:endParaRPr lang="de-DE" dirty="0"/>
          </a:p>
          <a:p>
            <a:endParaRPr lang="de-DE" dirty="0"/>
          </a:p>
          <a:p>
            <a:endParaRPr lang="de-DE" dirty="0"/>
          </a:p>
          <a:p>
            <a:r>
              <a:rPr lang="de-DE" dirty="0"/>
              <a:t>Experiment Design</a:t>
            </a:r>
          </a:p>
          <a:p>
            <a:pPr lvl="1"/>
            <a:r>
              <a:rPr lang="de-DE" altLang="ko-KR" dirty="0"/>
              <a:t>Prompt</a:t>
            </a:r>
            <a:r>
              <a:rPr lang="de-DE" altLang="ko-KR" b="1" dirty="0"/>
              <a:t> line</a:t>
            </a:r>
            <a:r>
              <a:rPr lang="de-DE" altLang="ko-KR" dirty="0"/>
              <a:t> and </a:t>
            </a:r>
            <a:r>
              <a:rPr lang="de-DE" altLang="ko-KR" b="1" dirty="0"/>
              <a:t>stanza </a:t>
            </a:r>
            <a:r>
              <a:rPr lang="de-DE" altLang="ko-KR" dirty="0"/>
              <a:t>instead of sentences and Paragraphs level</a:t>
            </a:r>
            <a:endParaRPr lang="de-DE" dirty="0"/>
          </a:p>
          <a:p>
            <a:pPr marL="457153" lvl="1" indent="0">
              <a:buNone/>
            </a:pPr>
            <a:endParaRPr lang="de-DE" dirty="0"/>
          </a:p>
          <a:p>
            <a:pPr marL="0" indent="0">
              <a:buNone/>
            </a:pPr>
            <a:endParaRPr lang="de-DE" dirty="0"/>
          </a:p>
        </p:txBody>
      </p:sp>
      <p:sp>
        <p:nvSpPr>
          <p:cNvPr id="4" name="Datumsplatzhalter 3"/>
          <p:cNvSpPr>
            <a:spLocks noGrp="1"/>
          </p:cNvSpPr>
          <p:nvPr>
            <p:ph type="dt" sz="half" idx="10"/>
          </p:nvPr>
        </p:nvSpPr>
        <p:spPr/>
        <p:txBody>
          <a:bodyPr/>
          <a:lstStyle/>
          <a:p>
            <a:r>
              <a:rPr lang="de-DE" dirty="0"/>
              <a:t>29.04.2024</a:t>
            </a:r>
          </a:p>
        </p:txBody>
      </p:sp>
      <p:sp>
        <p:nvSpPr>
          <p:cNvPr id="6" name="Foliennummernplatzhalter 5"/>
          <p:cNvSpPr>
            <a:spLocks noGrp="1"/>
          </p:cNvSpPr>
          <p:nvPr>
            <p:ph type="sldNum" sz="quarter" idx="12"/>
          </p:nvPr>
        </p:nvSpPr>
        <p:spPr/>
        <p:txBody>
          <a:bodyPr/>
          <a:lstStyle/>
          <a:p>
            <a:fld id="{FC0CC166-4E39-43B8-AB91-BDD1C4C9E224}" type="slidenum">
              <a:rPr lang="de-DE" smtClean="0"/>
              <a:t>6</a:t>
            </a:fld>
            <a:endParaRPr lang="de-DE"/>
          </a:p>
        </p:txBody>
      </p:sp>
      <p:sp>
        <p:nvSpPr>
          <p:cNvPr id="2" name="Fußzeilenplatzhalter 4">
            <a:extLst>
              <a:ext uri="{FF2B5EF4-FFF2-40B4-BE49-F238E27FC236}">
                <a16:creationId xmlns:a16="http://schemas.microsoft.com/office/drawing/2014/main" id="{066012AE-0254-6E6F-EED0-3BFA409F8D81}"/>
              </a:ext>
            </a:extLst>
          </p:cNvPr>
          <p:cNvSpPr>
            <a:spLocks noGrp="1"/>
          </p:cNvSpPr>
          <p:nvPr>
            <p:ph type="ftr" sz="quarter" idx="11"/>
          </p:nvPr>
        </p:nvSpPr>
        <p:spPr>
          <a:xfrm>
            <a:off x="1378800" y="6062400"/>
            <a:ext cx="6623787" cy="110594"/>
          </a:xfrm>
        </p:spPr>
        <p:txBody>
          <a:bodyPr/>
          <a:lstStyle/>
          <a:p>
            <a:r>
              <a:rPr lang="en-US" altLang="ko-KR" sz="1200" i="0" dirty="0">
                <a:effectLst/>
                <a:highlight>
                  <a:srgbClr val="FFFFFF"/>
                </a:highlight>
                <a:latin typeface="Söhne"/>
              </a:rPr>
              <a:t>Evaluating the Effectiveness of Large Language Models in Translating Korean Poetry into English</a:t>
            </a:r>
            <a:endParaRPr lang="de-DE" dirty="0"/>
          </a:p>
        </p:txBody>
      </p:sp>
      <p:pic>
        <p:nvPicPr>
          <p:cNvPr id="5" name="그림 4">
            <a:extLst>
              <a:ext uri="{FF2B5EF4-FFF2-40B4-BE49-F238E27FC236}">
                <a16:creationId xmlns:a16="http://schemas.microsoft.com/office/drawing/2014/main" id="{3302F11A-9F8D-FDAA-22DC-DECFFF128DFC}"/>
              </a:ext>
            </a:extLst>
          </p:cNvPr>
          <p:cNvPicPr>
            <a:picLocks noChangeAspect="1"/>
          </p:cNvPicPr>
          <p:nvPr/>
        </p:nvPicPr>
        <p:blipFill>
          <a:blip r:embed="rId4"/>
          <a:stretch>
            <a:fillRect/>
          </a:stretch>
        </p:blipFill>
        <p:spPr>
          <a:xfrm>
            <a:off x="1754187" y="2972594"/>
            <a:ext cx="7090096" cy="1633026"/>
          </a:xfrm>
          <a:prstGeom prst="rect">
            <a:avLst/>
          </a:prstGeom>
        </p:spPr>
      </p:pic>
    </p:spTree>
    <p:extLst>
      <p:ext uri="{BB962C8B-B14F-4D97-AF65-F5344CB8AC3E}">
        <p14:creationId xmlns:p14="http://schemas.microsoft.com/office/powerpoint/2010/main" val="2507662157"/>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de-DE" altLang="ko-KR" dirty="0"/>
              <a:t>Evaluation </a:t>
            </a:r>
            <a:endParaRPr lang="de-DE" dirty="0"/>
          </a:p>
        </p:txBody>
      </p:sp>
      <p:sp>
        <p:nvSpPr>
          <p:cNvPr id="8" name="Inhaltsplatzhalter 7"/>
          <p:cNvSpPr>
            <a:spLocks noGrp="1"/>
          </p:cNvSpPr>
          <p:nvPr>
            <p:ph idx="1"/>
          </p:nvPr>
        </p:nvSpPr>
        <p:spPr/>
        <p:txBody>
          <a:bodyPr/>
          <a:lstStyle/>
          <a:p>
            <a:r>
              <a:rPr lang="de-DE" dirty="0"/>
              <a:t>Difficult to conduct evaluation with Automatic Metrics</a:t>
            </a:r>
          </a:p>
          <a:p>
            <a:pPr lvl="1"/>
            <a:r>
              <a:rPr lang="de-DE" dirty="0"/>
              <a:t>So, employs „human evaluation“</a:t>
            </a:r>
          </a:p>
          <a:p>
            <a:r>
              <a:rPr lang="de-DE" altLang="ko-KR" dirty="0"/>
              <a:t>Evaluate translated outputs based on 5 error annotations by </a:t>
            </a:r>
            <a:r>
              <a:rPr lang="en-US" altLang="ko-KR" dirty="0"/>
              <a:t>MQM</a:t>
            </a:r>
            <a:endParaRPr lang="de-DE" altLang="ko-KR" dirty="0"/>
          </a:p>
          <a:p>
            <a:pPr marL="1257217" lvl="2" indent="-457200">
              <a:buAutoNum type="arabicPeriod"/>
            </a:pPr>
            <a:r>
              <a:rPr lang="en-US" altLang="ko-KR" dirty="0"/>
              <a:t>Inconsistency</a:t>
            </a:r>
          </a:p>
          <a:p>
            <a:pPr marL="1257217" lvl="2" indent="-457200">
              <a:buAutoNum type="arabicPeriod"/>
            </a:pPr>
            <a:r>
              <a:rPr lang="en-US" altLang="ko-KR" dirty="0"/>
              <a:t>Untranslated</a:t>
            </a:r>
          </a:p>
          <a:p>
            <a:pPr marL="1257217" lvl="2" indent="-457200">
              <a:buAutoNum type="arabicPeriod"/>
            </a:pPr>
            <a:r>
              <a:rPr lang="en-US" altLang="ko-KR" dirty="0"/>
              <a:t>Mistranslation</a:t>
            </a:r>
          </a:p>
          <a:p>
            <a:pPr marL="1257217" lvl="2" indent="-457200">
              <a:buFont typeface="Arial" panose="020B0604020202020204" pitchFamily="34" charset="0"/>
              <a:buAutoNum type="arabicPeriod"/>
            </a:pPr>
            <a:r>
              <a:rPr lang="en-US" altLang="ko-KR" dirty="0"/>
              <a:t>Grammar</a:t>
            </a:r>
          </a:p>
          <a:p>
            <a:pPr marL="1257217" lvl="2" indent="-457200">
              <a:buFont typeface="Arial" panose="020B0604020202020204" pitchFamily="34" charset="0"/>
              <a:buAutoNum type="arabicPeriod"/>
            </a:pPr>
            <a:r>
              <a:rPr lang="en-US" altLang="ko-KR" dirty="0">
                <a:solidFill>
                  <a:srgbClr val="00B050"/>
                </a:solidFill>
              </a:rPr>
              <a:t>Poetic components Preservation</a:t>
            </a:r>
          </a:p>
          <a:p>
            <a:pPr marL="800017" lvl="2" indent="0">
              <a:buNone/>
            </a:pPr>
            <a:endParaRPr lang="en-US" altLang="ko-KR" dirty="0"/>
          </a:p>
          <a:p>
            <a:endParaRPr lang="de-DE" dirty="0"/>
          </a:p>
        </p:txBody>
      </p:sp>
      <p:sp>
        <p:nvSpPr>
          <p:cNvPr id="4" name="Datumsplatzhalter 3"/>
          <p:cNvSpPr>
            <a:spLocks noGrp="1"/>
          </p:cNvSpPr>
          <p:nvPr>
            <p:ph type="dt" sz="half" idx="10"/>
          </p:nvPr>
        </p:nvSpPr>
        <p:spPr/>
        <p:txBody>
          <a:bodyPr/>
          <a:lstStyle/>
          <a:p>
            <a:r>
              <a:rPr lang="de-DE" dirty="0"/>
              <a:t>29.04.2024</a:t>
            </a:r>
          </a:p>
        </p:txBody>
      </p:sp>
      <p:sp>
        <p:nvSpPr>
          <p:cNvPr id="6" name="Foliennummernplatzhalter 5"/>
          <p:cNvSpPr>
            <a:spLocks noGrp="1"/>
          </p:cNvSpPr>
          <p:nvPr>
            <p:ph type="sldNum" sz="quarter" idx="12"/>
          </p:nvPr>
        </p:nvSpPr>
        <p:spPr/>
        <p:txBody>
          <a:bodyPr/>
          <a:lstStyle/>
          <a:p>
            <a:fld id="{FC0CC166-4E39-43B8-AB91-BDD1C4C9E224}" type="slidenum">
              <a:rPr lang="de-DE" smtClean="0"/>
              <a:t>7</a:t>
            </a:fld>
            <a:endParaRPr lang="de-DE"/>
          </a:p>
        </p:txBody>
      </p:sp>
      <p:sp>
        <p:nvSpPr>
          <p:cNvPr id="2" name="Fußzeilenplatzhalter 4">
            <a:extLst>
              <a:ext uri="{FF2B5EF4-FFF2-40B4-BE49-F238E27FC236}">
                <a16:creationId xmlns:a16="http://schemas.microsoft.com/office/drawing/2014/main" id="{8BE83C3E-7162-E146-009D-6753AEB571F7}"/>
              </a:ext>
            </a:extLst>
          </p:cNvPr>
          <p:cNvSpPr>
            <a:spLocks noGrp="1"/>
          </p:cNvSpPr>
          <p:nvPr>
            <p:ph type="ftr" sz="quarter" idx="11"/>
          </p:nvPr>
        </p:nvSpPr>
        <p:spPr>
          <a:xfrm>
            <a:off x="1378800" y="6062400"/>
            <a:ext cx="6623787" cy="110594"/>
          </a:xfrm>
        </p:spPr>
        <p:txBody>
          <a:bodyPr/>
          <a:lstStyle/>
          <a:p>
            <a:r>
              <a:rPr lang="en-US" altLang="ko-KR" sz="1200" i="0" dirty="0">
                <a:effectLst/>
                <a:highlight>
                  <a:srgbClr val="FFFFFF"/>
                </a:highlight>
                <a:latin typeface="Söhne"/>
              </a:rPr>
              <a:t>Evaluating the Effectiveness of Large Language Models in Translating Korean Poetry into English</a:t>
            </a:r>
            <a:endParaRPr lang="de-DE" dirty="0"/>
          </a:p>
        </p:txBody>
      </p:sp>
    </p:spTree>
    <p:extLst>
      <p:ext uri="{BB962C8B-B14F-4D97-AF65-F5344CB8AC3E}">
        <p14:creationId xmlns:p14="http://schemas.microsoft.com/office/powerpoint/2010/main" val="2501536619"/>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a:xfrm>
            <a:off x="1378800" y="612001"/>
            <a:ext cx="6457681" cy="684193"/>
          </a:xfrm>
        </p:spPr>
        <p:txBody>
          <a:bodyPr/>
          <a:lstStyle/>
          <a:p>
            <a:r>
              <a:rPr lang="de-DE" altLang="ko-KR" dirty="0"/>
              <a:t>Experiment &amp; Evaluation</a:t>
            </a:r>
            <a:endParaRPr lang="de-DE" dirty="0"/>
          </a:p>
        </p:txBody>
      </p:sp>
      <p:sp>
        <p:nvSpPr>
          <p:cNvPr id="4" name="Datumsplatzhalter 3"/>
          <p:cNvSpPr>
            <a:spLocks noGrp="1"/>
          </p:cNvSpPr>
          <p:nvPr>
            <p:ph type="dt" sz="half" idx="10"/>
          </p:nvPr>
        </p:nvSpPr>
        <p:spPr/>
        <p:txBody>
          <a:bodyPr/>
          <a:lstStyle/>
          <a:p>
            <a:r>
              <a:rPr lang="de-DE" dirty="0"/>
              <a:t>29.04.2024</a:t>
            </a:r>
          </a:p>
        </p:txBody>
      </p:sp>
      <p:sp>
        <p:nvSpPr>
          <p:cNvPr id="6" name="Foliennummernplatzhalter 5"/>
          <p:cNvSpPr>
            <a:spLocks noGrp="1"/>
          </p:cNvSpPr>
          <p:nvPr>
            <p:ph type="sldNum" sz="quarter" idx="12"/>
          </p:nvPr>
        </p:nvSpPr>
        <p:spPr/>
        <p:txBody>
          <a:bodyPr/>
          <a:lstStyle/>
          <a:p>
            <a:fld id="{FC0CC166-4E39-43B8-AB91-BDD1C4C9E224}" type="slidenum">
              <a:rPr lang="de-DE" smtClean="0"/>
              <a:t>8</a:t>
            </a:fld>
            <a:endParaRPr lang="de-DE"/>
          </a:p>
        </p:txBody>
      </p:sp>
      <p:sp>
        <p:nvSpPr>
          <p:cNvPr id="2" name="TextBox 1">
            <a:extLst>
              <a:ext uri="{FF2B5EF4-FFF2-40B4-BE49-F238E27FC236}">
                <a16:creationId xmlns:a16="http://schemas.microsoft.com/office/drawing/2014/main" id="{6F147367-60B5-6002-1F3C-43CA2FD4CA27}"/>
              </a:ext>
            </a:extLst>
          </p:cNvPr>
          <p:cNvSpPr txBox="1"/>
          <p:nvPr/>
        </p:nvSpPr>
        <p:spPr>
          <a:xfrm>
            <a:off x="3887787" y="1753394"/>
            <a:ext cx="184731" cy="369332"/>
          </a:xfrm>
          <a:prstGeom prst="rect">
            <a:avLst/>
          </a:prstGeom>
          <a:noFill/>
        </p:spPr>
        <p:txBody>
          <a:bodyPr wrap="none" rtlCol="0">
            <a:spAutoFit/>
          </a:bodyPr>
          <a:lstStyle/>
          <a:p>
            <a:endParaRPr lang="ko-KR" altLang="en-US" dirty="0"/>
          </a:p>
        </p:txBody>
      </p:sp>
      <p:sp>
        <p:nvSpPr>
          <p:cNvPr id="3" name="TextBox 2">
            <a:extLst>
              <a:ext uri="{FF2B5EF4-FFF2-40B4-BE49-F238E27FC236}">
                <a16:creationId xmlns:a16="http://schemas.microsoft.com/office/drawing/2014/main" id="{40B7824C-5F76-DFAC-E6B3-A35BD75C1D01}"/>
              </a:ext>
            </a:extLst>
          </p:cNvPr>
          <p:cNvSpPr txBox="1"/>
          <p:nvPr/>
        </p:nvSpPr>
        <p:spPr>
          <a:xfrm>
            <a:off x="7926387" y="2972594"/>
            <a:ext cx="242374" cy="369332"/>
          </a:xfrm>
          <a:prstGeom prst="rect">
            <a:avLst/>
          </a:prstGeom>
          <a:noFill/>
        </p:spPr>
        <p:txBody>
          <a:bodyPr wrap="none" rtlCol="0">
            <a:spAutoFit/>
          </a:bodyPr>
          <a:lstStyle/>
          <a:p>
            <a:r>
              <a:rPr lang="en-US" altLang="ko-KR" dirty="0"/>
              <a:t>.</a:t>
            </a:r>
            <a:endParaRPr lang="ko-KR" altLang="en-US" dirty="0"/>
          </a:p>
        </p:txBody>
      </p:sp>
      <p:grpSp>
        <p:nvGrpSpPr>
          <p:cNvPr id="5" name="그룹 4">
            <a:extLst>
              <a:ext uri="{FF2B5EF4-FFF2-40B4-BE49-F238E27FC236}">
                <a16:creationId xmlns:a16="http://schemas.microsoft.com/office/drawing/2014/main" id="{9A3FAC7E-A151-D319-E630-550E9457A4EF}"/>
              </a:ext>
            </a:extLst>
          </p:cNvPr>
          <p:cNvGrpSpPr/>
          <p:nvPr/>
        </p:nvGrpSpPr>
        <p:grpSpPr>
          <a:xfrm>
            <a:off x="6985971" y="3217436"/>
            <a:ext cx="2925995" cy="2503924"/>
            <a:chOff x="992186" y="1480106"/>
            <a:chExt cx="2925995" cy="2503924"/>
          </a:xfrm>
        </p:grpSpPr>
        <p:sp>
          <p:nvSpPr>
            <p:cNvPr id="9" name="TextBox 8">
              <a:extLst>
                <a:ext uri="{FF2B5EF4-FFF2-40B4-BE49-F238E27FC236}">
                  <a16:creationId xmlns:a16="http://schemas.microsoft.com/office/drawing/2014/main" id="{29B53A2C-60E2-B6C7-B25C-4C6BC36619D3}"/>
                </a:ext>
              </a:extLst>
            </p:cNvPr>
            <p:cNvSpPr txBox="1"/>
            <p:nvPr/>
          </p:nvSpPr>
          <p:spPr>
            <a:xfrm>
              <a:off x="992186" y="1480106"/>
              <a:ext cx="2540615" cy="369332"/>
            </a:xfrm>
            <a:prstGeom prst="rect">
              <a:avLst/>
            </a:prstGeom>
            <a:noFill/>
          </p:spPr>
          <p:txBody>
            <a:bodyPr wrap="square" rtlCol="0">
              <a:spAutoFit/>
            </a:bodyPr>
            <a:lstStyle/>
            <a:p>
              <a:r>
                <a:rPr lang="en-US" altLang="ko-KR" b="1" dirty="0">
                  <a:solidFill>
                    <a:srgbClr val="003056"/>
                  </a:solidFill>
                </a:rPr>
                <a:t>Stanza-level translation</a:t>
              </a:r>
              <a:endParaRPr lang="ko-KR" altLang="en-US" b="1" dirty="0">
                <a:solidFill>
                  <a:srgbClr val="003056"/>
                </a:solidFill>
              </a:endParaRPr>
            </a:p>
          </p:txBody>
        </p:sp>
        <p:sp>
          <p:nvSpPr>
            <p:cNvPr id="10" name="TextBox 9">
              <a:extLst>
                <a:ext uri="{FF2B5EF4-FFF2-40B4-BE49-F238E27FC236}">
                  <a16:creationId xmlns:a16="http://schemas.microsoft.com/office/drawing/2014/main" id="{3E60CE89-8FAD-D5BE-3C4A-8F74B4D67C61}"/>
                </a:ext>
              </a:extLst>
            </p:cNvPr>
            <p:cNvSpPr txBox="1"/>
            <p:nvPr/>
          </p:nvSpPr>
          <p:spPr>
            <a:xfrm>
              <a:off x="992187" y="1829594"/>
              <a:ext cx="2925994" cy="2154436"/>
            </a:xfrm>
            <a:prstGeom prst="rect">
              <a:avLst/>
            </a:prstGeom>
            <a:noFill/>
          </p:spPr>
          <p:txBody>
            <a:bodyPr wrap="none" rtlCol="0">
              <a:spAutoFit/>
            </a:bodyPr>
            <a:lstStyle/>
            <a:p>
              <a:r>
                <a:rPr lang="en-US" altLang="ko-KR" sz="1200" dirty="0"/>
                <a:t>Until the Day of My Death, I Gaze at the Sky</a:t>
              </a:r>
            </a:p>
            <a:p>
              <a:r>
                <a:rPr lang="en-US" altLang="ko-KR" sz="1200" dirty="0"/>
                <a:t>Without a single blush, I longed,</a:t>
              </a:r>
            </a:p>
            <a:p>
              <a:r>
                <a:rPr lang="en-US" altLang="ko-KR" sz="1200" dirty="0"/>
                <a:t>Amidst falling leaves, for the wind too,</a:t>
              </a:r>
            </a:p>
            <a:p>
              <a:r>
                <a:rPr lang="en-US" altLang="ko-KR" sz="1200" dirty="0"/>
                <a:t>I was uneasy within.</a:t>
              </a:r>
            </a:p>
            <a:p>
              <a:endParaRPr lang="en-US" altLang="ko-KR" sz="1200" dirty="0"/>
            </a:p>
            <a:p>
              <a:r>
                <a:rPr lang="en-US" altLang="ko-KR" sz="1200" dirty="0"/>
                <a:t>With a heart that sings of stars,</a:t>
              </a:r>
            </a:p>
            <a:p>
              <a:r>
                <a:rPr lang="en-US" altLang="ko-KR" sz="1200" dirty="0"/>
                <a:t>I must love </a:t>
              </a:r>
              <a:r>
                <a:rPr lang="en-US" altLang="ko-KR" sz="1400" b="1" dirty="0">
                  <a:solidFill>
                    <a:srgbClr val="00B050"/>
                  </a:solidFill>
                </a:rPr>
                <a:t>all that's dying away</a:t>
              </a:r>
              <a:r>
                <a:rPr lang="en-US" altLang="ko-KR" sz="1200" dirty="0">
                  <a:solidFill>
                    <a:srgbClr val="00B050"/>
                  </a:solidFill>
                </a:rPr>
                <a:t>.</a:t>
              </a:r>
            </a:p>
            <a:p>
              <a:r>
                <a:rPr lang="en-US" altLang="ko-KR" sz="1200" dirty="0"/>
                <a:t>And I shall tread the path given me,</a:t>
              </a:r>
            </a:p>
            <a:p>
              <a:r>
                <a:rPr lang="en-US" altLang="ko-KR" sz="1200" dirty="0"/>
                <a:t>Come what may.</a:t>
              </a:r>
            </a:p>
            <a:p>
              <a:endParaRPr lang="en-US" altLang="ko-KR" sz="1200" dirty="0"/>
            </a:p>
            <a:p>
              <a:r>
                <a:rPr lang="en-US" altLang="ko-KR" sz="1200" dirty="0"/>
                <a:t>Tonight, the stars are still swept by the wind</a:t>
              </a:r>
              <a:endParaRPr lang="ko-KR" altLang="en-US" sz="1200" dirty="0"/>
            </a:p>
          </p:txBody>
        </p:sp>
      </p:grpSp>
      <p:grpSp>
        <p:nvGrpSpPr>
          <p:cNvPr id="13" name="그룹 12">
            <a:extLst>
              <a:ext uri="{FF2B5EF4-FFF2-40B4-BE49-F238E27FC236}">
                <a16:creationId xmlns:a16="http://schemas.microsoft.com/office/drawing/2014/main" id="{FEAF8601-FE32-A887-85CD-83801E7BF16C}"/>
              </a:ext>
            </a:extLst>
          </p:cNvPr>
          <p:cNvGrpSpPr/>
          <p:nvPr/>
        </p:nvGrpSpPr>
        <p:grpSpPr>
          <a:xfrm>
            <a:off x="6961505" y="1079114"/>
            <a:ext cx="2885918" cy="2118001"/>
            <a:chOff x="971830" y="1480106"/>
            <a:chExt cx="2885918" cy="2449082"/>
          </a:xfrm>
        </p:grpSpPr>
        <p:sp>
          <p:nvSpPr>
            <p:cNvPr id="14" name="TextBox 13">
              <a:extLst>
                <a:ext uri="{FF2B5EF4-FFF2-40B4-BE49-F238E27FC236}">
                  <a16:creationId xmlns:a16="http://schemas.microsoft.com/office/drawing/2014/main" id="{CAEC7D0B-6E88-C7BE-E2CD-45CA49E60956}"/>
                </a:ext>
              </a:extLst>
            </p:cNvPr>
            <p:cNvSpPr txBox="1"/>
            <p:nvPr/>
          </p:nvSpPr>
          <p:spPr>
            <a:xfrm>
              <a:off x="992186" y="1480106"/>
              <a:ext cx="2316125" cy="427065"/>
            </a:xfrm>
            <a:prstGeom prst="rect">
              <a:avLst/>
            </a:prstGeom>
            <a:noFill/>
          </p:spPr>
          <p:txBody>
            <a:bodyPr wrap="square" rtlCol="0">
              <a:spAutoFit/>
            </a:bodyPr>
            <a:lstStyle/>
            <a:p>
              <a:r>
                <a:rPr lang="en-US" altLang="ko-KR" b="1" dirty="0">
                  <a:solidFill>
                    <a:srgbClr val="003056"/>
                  </a:solidFill>
                </a:rPr>
                <a:t>Line-level translation</a:t>
              </a:r>
              <a:endParaRPr lang="ko-KR" altLang="en-US" b="1" dirty="0">
                <a:solidFill>
                  <a:srgbClr val="003056"/>
                </a:solidFill>
              </a:endParaRPr>
            </a:p>
          </p:txBody>
        </p:sp>
        <p:sp>
          <p:nvSpPr>
            <p:cNvPr id="15" name="TextBox 14">
              <a:extLst>
                <a:ext uri="{FF2B5EF4-FFF2-40B4-BE49-F238E27FC236}">
                  <a16:creationId xmlns:a16="http://schemas.microsoft.com/office/drawing/2014/main" id="{22CA58EB-C14E-E312-9DF9-9BEDB53DEE0A}"/>
                </a:ext>
              </a:extLst>
            </p:cNvPr>
            <p:cNvSpPr txBox="1"/>
            <p:nvPr/>
          </p:nvSpPr>
          <p:spPr>
            <a:xfrm>
              <a:off x="971830" y="1865041"/>
              <a:ext cx="2885918" cy="2064147"/>
            </a:xfrm>
            <a:prstGeom prst="rect">
              <a:avLst/>
            </a:prstGeom>
            <a:noFill/>
          </p:spPr>
          <p:txBody>
            <a:bodyPr wrap="none" rtlCol="0">
              <a:spAutoFit/>
            </a:bodyPr>
            <a:lstStyle/>
            <a:p>
              <a:r>
                <a:rPr lang="en-US" altLang="ko-KR" sz="1200" dirty="0"/>
                <a:t>Until the day I die, gazing at the sky.</a:t>
              </a:r>
            </a:p>
            <a:p>
              <a:r>
                <a:rPr lang="en-US" altLang="ko-KR" sz="1200" dirty="0"/>
                <a:t>A point without a speck of shame,</a:t>
              </a:r>
            </a:p>
            <a:p>
              <a:r>
                <a:rPr lang="en-US" altLang="ko-KR" sz="1200" dirty="0"/>
                <a:t>Leaves come gently with the wind's touch.</a:t>
              </a:r>
            </a:p>
            <a:p>
              <a:r>
                <a:rPr lang="en-US" altLang="ko-KR" sz="1200" dirty="0"/>
                <a:t>I was sad.</a:t>
              </a:r>
            </a:p>
            <a:p>
              <a:r>
                <a:rPr lang="en-US" altLang="ko-KR" sz="1200" dirty="0"/>
                <a:t>Mind singing of a star</a:t>
              </a:r>
            </a:p>
            <a:p>
              <a:r>
                <a:rPr lang="en-US" altLang="ko-KR" sz="1200" dirty="0"/>
                <a:t>You must love </a:t>
              </a:r>
              <a:r>
                <a:rPr lang="en-US" altLang="ko-KR" sz="1400" b="1" dirty="0">
                  <a:solidFill>
                    <a:srgbClr val="00B050"/>
                  </a:solidFill>
                </a:rPr>
                <a:t>all things that are dying</a:t>
              </a:r>
              <a:r>
                <a:rPr lang="en-US" altLang="ko-KR" sz="1400" dirty="0"/>
                <a:t>.</a:t>
              </a:r>
            </a:p>
            <a:p>
              <a:r>
                <a:rPr lang="en-US" altLang="ko-KR" sz="1200" dirty="0"/>
                <a:t>And the path given to me,</a:t>
              </a:r>
            </a:p>
            <a:p>
              <a:r>
                <a:rPr lang="en-US" altLang="ko-KR" sz="1200" dirty="0"/>
                <a:t>I will go for a walk.</a:t>
              </a:r>
            </a:p>
            <a:p>
              <a:r>
                <a:rPr lang="en-US" altLang="ko-KR" sz="1200" dirty="0"/>
                <a:t>Tonight, stars are still swayed by the wind.</a:t>
              </a:r>
            </a:p>
          </p:txBody>
        </p:sp>
      </p:grpSp>
      <p:grpSp>
        <p:nvGrpSpPr>
          <p:cNvPr id="18" name="그룹 17">
            <a:extLst>
              <a:ext uri="{FF2B5EF4-FFF2-40B4-BE49-F238E27FC236}">
                <a16:creationId xmlns:a16="http://schemas.microsoft.com/office/drawing/2014/main" id="{E7D18959-9A1F-190B-3A45-90DF7B73AC3E}"/>
              </a:ext>
            </a:extLst>
          </p:cNvPr>
          <p:cNvGrpSpPr/>
          <p:nvPr/>
        </p:nvGrpSpPr>
        <p:grpSpPr>
          <a:xfrm>
            <a:off x="1299860" y="2001019"/>
            <a:ext cx="3102131" cy="2904033"/>
            <a:chOff x="992187" y="1480106"/>
            <a:chExt cx="3102131" cy="2904033"/>
          </a:xfrm>
        </p:grpSpPr>
        <p:sp>
          <p:nvSpPr>
            <p:cNvPr id="19" name="TextBox 18">
              <a:extLst>
                <a:ext uri="{FF2B5EF4-FFF2-40B4-BE49-F238E27FC236}">
                  <a16:creationId xmlns:a16="http://schemas.microsoft.com/office/drawing/2014/main" id="{2828D892-CA2D-3D98-DA45-B1D7E488366B}"/>
                </a:ext>
              </a:extLst>
            </p:cNvPr>
            <p:cNvSpPr txBox="1"/>
            <p:nvPr/>
          </p:nvSpPr>
          <p:spPr>
            <a:xfrm>
              <a:off x="992187" y="1480106"/>
              <a:ext cx="916165" cy="369332"/>
            </a:xfrm>
            <a:prstGeom prst="rect">
              <a:avLst/>
            </a:prstGeom>
            <a:noFill/>
          </p:spPr>
          <p:txBody>
            <a:bodyPr wrap="square" rtlCol="0">
              <a:spAutoFit/>
            </a:bodyPr>
            <a:lstStyle/>
            <a:p>
              <a:r>
                <a:rPr lang="de-DE" altLang="ko-KR" b="1" dirty="0">
                  <a:solidFill>
                    <a:srgbClr val="003056"/>
                  </a:solidFill>
                </a:rPr>
                <a:t>Source</a:t>
              </a:r>
              <a:endParaRPr lang="ko-KR" altLang="en-US" b="1" dirty="0">
                <a:solidFill>
                  <a:srgbClr val="003056"/>
                </a:solidFill>
              </a:endParaRPr>
            </a:p>
          </p:txBody>
        </p:sp>
        <p:sp>
          <p:nvSpPr>
            <p:cNvPr id="20" name="TextBox 19">
              <a:extLst>
                <a:ext uri="{FF2B5EF4-FFF2-40B4-BE49-F238E27FC236}">
                  <a16:creationId xmlns:a16="http://schemas.microsoft.com/office/drawing/2014/main" id="{10128B29-26B0-BEC0-C819-E7B41870265D}"/>
                </a:ext>
              </a:extLst>
            </p:cNvPr>
            <p:cNvSpPr txBox="1"/>
            <p:nvPr/>
          </p:nvSpPr>
          <p:spPr>
            <a:xfrm>
              <a:off x="992187" y="1829594"/>
              <a:ext cx="3102131" cy="2554545"/>
            </a:xfrm>
            <a:prstGeom prst="rect">
              <a:avLst/>
            </a:prstGeom>
            <a:noFill/>
          </p:spPr>
          <p:txBody>
            <a:bodyPr wrap="none" rtlCol="0">
              <a:spAutoFit/>
            </a:bodyPr>
            <a:lstStyle/>
            <a:p>
              <a:r>
                <a:rPr lang="ko-KR" altLang="en-US" sz="1400" dirty="0"/>
                <a:t>죽는 날까지 </a:t>
              </a:r>
              <a:r>
                <a:rPr lang="ko-KR" altLang="en-US" sz="1400" dirty="0">
                  <a:solidFill>
                    <a:srgbClr val="00B050"/>
                  </a:solidFill>
                </a:rPr>
                <a:t>하늘</a:t>
              </a:r>
              <a:r>
                <a:rPr lang="ko-KR" altLang="en-US" sz="1400" dirty="0"/>
                <a:t>을 우러러</a:t>
              </a:r>
            </a:p>
            <a:p>
              <a:r>
                <a:rPr lang="ko-KR" altLang="en-US" sz="1400" dirty="0"/>
                <a:t>한 점 부끄럼이 없기를,</a:t>
              </a:r>
            </a:p>
            <a:p>
              <a:r>
                <a:rPr lang="ko-KR" altLang="en-US" sz="1400" dirty="0"/>
                <a:t>잎새에 이는 </a:t>
              </a:r>
              <a:r>
                <a:rPr lang="ko-KR" altLang="en-US" sz="1400" dirty="0">
                  <a:solidFill>
                    <a:srgbClr val="00B050"/>
                  </a:solidFill>
                </a:rPr>
                <a:t>바람</a:t>
              </a:r>
              <a:r>
                <a:rPr lang="ko-KR" altLang="en-US" sz="1400" dirty="0"/>
                <a:t>에도</a:t>
              </a:r>
            </a:p>
            <a:p>
              <a:r>
                <a:rPr lang="ko-KR" altLang="en-US" sz="1400" dirty="0"/>
                <a:t>나는 괴로워했다.</a:t>
              </a:r>
            </a:p>
            <a:p>
              <a:endParaRPr lang="ko-KR" altLang="en-US" sz="1400" dirty="0"/>
            </a:p>
            <a:p>
              <a:r>
                <a:rPr lang="ko-KR" altLang="en-US" sz="1400" dirty="0">
                  <a:solidFill>
                    <a:srgbClr val="00B050"/>
                  </a:solidFill>
                </a:rPr>
                <a:t>별</a:t>
              </a:r>
              <a:r>
                <a:rPr lang="ko-KR" altLang="en-US" sz="1400" dirty="0"/>
                <a:t>을 노래하는 마음으로</a:t>
              </a:r>
            </a:p>
            <a:p>
              <a:r>
                <a:rPr lang="ko-KR" altLang="en-US" b="1" dirty="0">
                  <a:solidFill>
                    <a:srgbClr val="00B050"/>
                  </a:solidFill>
                </a:rPr>
                <a:t>모든 죽어 가는 것</a:t>
              </a:r>
              <a:r>
                <a:rPr lang="ko-KR" altLang="en-US" sz="1400" dirty="0"/>
                <a:t>을</a:t>
              </a:r>
              <a:r>
                <a:rPr lang="ko-KR" altLang="en-US" sz="1600" dirty="0"/>
                <a:t> </a:t>
              </a:r>
              <a:r>
                <a:rPr lang="ko-KR" altLang="en-US" sz="1400" dirty="0" err="1"/>
                <a:t>사랑해야지</a:t>
              </a:r>
              <a:r>
                <a:rPr lang="ko-KR" altLang="en-US" sz="1400" dirty="0"/>
                <a:t>.</a:t>
              </a:r>
            </a:p>
            <a:p>
              <a:r>
                <a:rPr lang="ko-KR" altLang="en-US" sz="1400" dirty="0"/>
                <a:t>그리고 </a:t>
              </a:r>
              <a:r>
                <a:rPr lang="ko-KR" altLang="en-US" sz="1600" dirty="0" err="1">
                  <a:solidFill>
                    <a:srgbClr val="00B050"/>
                  </a:solidFill>
                </a:rPr>
                <a:t>나한테</a:t>
              </a:r>
              <a:r>
                <a:rPr lang="ko-KR" altLang="en-US" sz="1600" dirty="0">
                  <a:solidFill>
                    <a:srgbClr val="00B050"/>
                  </a:solidFill>
                </a:rPr>
                <a:t> 주어진 길</a:t>
              </a:r>
              <a:r>
                <a:rPr lang="ko-KR" altLang="en-US" sz="1400" dirty="0"/>
                <a:t>을</a:t>
              </a:r>
              <a:endParaRPr lang="ko-KR" altLang="en-US" sz="1200" dirty="0"/>
            </a:p>
            <a:p>
              <a:r>
                <a:rPr lang="ko-KR" altLang="en-US" sz="1400" dirty="0" err="1">
                  <a:solidFill>
                    <a:srgbClr val="00B050"/>
                  </a:solidFill>
                </a:rPr>
                <a:t>걸어가야겠다</a:t>
              </a:r>
              <a:r>
                <a:rPr lang="ko-KR" altLang="en-US" sz="1400" dirty="0">
                  <a:solidFill>
                    <a:srgbClr val="00B050"/>
                  </a:solidFill>
                </a:rPr>
                <a:t>.</a:t>
              </a:r>
            </a:p>
            <a:p>
              <a:endParaRPr lang="ko-KR" altLang="en-US" sz="1400" dirty="0"/>
            </a:p>
            <a:p>
              <a:r>
                <a:rPr lang="ko-KR" altLang="en-US" sz="1400" dirty="0">
                  <a:solidFill>
                    <a:srgbClr val="00B050"/>
                  </a:solidFill>
                </a:rPr>
                <a:t>오늘 밤</a:t>
              </a:r>
              <a:r>
                <a:rPr lang="ko-KR" altLang="en-US" sz="1400" dirty="0"/>
                <a:t>에도 </a:t>
              </a:r>
              <a:r>
                <a:rPr lang="ko-KR" altLang="en-US" sz="1400" dirty="0">
                  <a:solidFill>
                    <a:srgbClr val="00B050"/>
                  </a:solidFill>
                </a:rPr>
                <a:t>별</a:t>
              </a:r>
              <a:r>
                <a:rPr lang="ko-KR" altLang="en-US" sz="1400" dirty="0"/>
                <a:t>이 </a:t>
              </a:r>
              <a:r>
                <a:rPr lang="ko-KR" altLang="en-US" sz="1400" dirty="0">
                  <a:solidFill>
                    <a:srgbClr val="00B050"/>
                  </a:solidFill>
                </a:rPr>
                <a:t>바람</a:t>
              </a:r>
              <a:r>
                <a:rPr lang="ko-KR" altLang="en-US" sz="1400" dirty="0"/>
                <a:t>에 </a:t>
              </a:r>
              <a:r>
                <a:rPr lang="ko-KR" altLang="en-US" sz="1400" dirty="0" err="1"/>
                <a:t>스치운다</a:t>
              </a:r>
              <a:r>
                <a:rPr lang="ko-KR" altLang="en-US" sz="1400" dirty="0"/>
                <a:t>.</a:t>
              </a:r>
            </a:p>
          </p:txBody>
        </p:sp>
      </p:grpSp>
      <p:sp>
        <p:nvSpPr>
          <p:cNvPr id="21" name="Fußzeilenplatzhalter 4">
            <a:extLst>
              <a:ext uri="{FF2B5EF4-FFF2-40B4-BE49-F238E27FC236}">
                <a16:creationId xmlns:a16="http://schemas.microsoft.com/office/drawing/2014/main" id="{2C0D0366-FAA9-0158-B547-B95D9C6E0A9A}"/>
              </a:ext>
            </a:extLst>
          </p:cNvPr>
          <p:cNvSpPr>
            <a:spLocks noGrp="1"/>
          </p:cNvSpPr>
          <p:nvPr>
            <p:ph type="ftr" sz="quarter" idx="11"/>
          </p:nvPr>
        </p:nvSpPr>
        <p:spPr>
          <a:xfrm>
            <a:off x="1378800" y="6062400"/>
            <a:ext cx="6623787" cy="110594"/>
          </a:xfrm>
        </p:spPr>
        <p:txBody>
          <a:bodyPr/>
          <a:lstStyle/>
          <a:p>
            <a:r>
              <a:rPr lang="en-US" altLang="ko-KR" sz="1200" i="0" dirty="0">
                <a:effectLst/>
                <a:highlight>
                  <a:srgbClr val="FFFFFF"/>
                </a:highlight>
                <a:latin typeface="Söhne"/>
              </a:rPr>
              <a:t>Evaluating the Effectiveness of Large Language Models in Translating Korean Poetry into English</a:t>
            </a:r>
            <a:endParaRPr lang="de-DE" dirty="0"/>
          </a:p>
        </p:txBody>
      </p:sp>
      <p:pic>
        <p:nvPicPr>
          <p:cNvPr id="22" name="그림 21" descr="블랙, 어둠이(가) 표시된 사진&#10;&#10;자동 생성된 설명">
            <a:extLst>
              <a:ext uri="{FF2B5EF4-FFF2-40B4-BE49-F238E27FC236}">
                <a16:creationId xmlns:a16="http://schemas.microsoft.com/office/drawing/2014/main" id="{934801F6-D0BA-17B2-B826-9619812CC4D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5247" t="10668" r="16857" b="23312"/>
          <a:stretch/>
        </p:blipFill>
        <p:spPr>
          <a:xfrm>
            <a:off x="4864254" y="3251165"/>
            <a:ext cx="1233333" cy="1199262"/>
          </a:xfrm>
          <a:prstGeom prst="rect">
            <a:avLst/>
          </a:prstGeom>
        </p:spPr>
      </p:pic>
      <p:grpSp>
        <p:nvGrpSpPr>
          <p:cNvPr id="23" name="그룹 22">
            <a:extLst>
              <a:ext uri="{FF2B5EF4-FFF2-40B4-BE49-F238E27FC236}">
                <a16:creationId xmlns:a16="http://schemas.microsoft.com/office/drawing/2014/main" id="{E0620F30-C950-E0E3-10B0-104C33FB27B8}"/>
              </a:ext>
            </a:extLst>
          </p:cNvPr>
          <p:cNvGrpSpPr/>
          <p:nvPr/>
        </p:nvGrpSpPr>
        <p:grpSpPr>
          <a:xfrm>
            <a:off x="3632889" y="2255531"/>
            <a:ext cx="3352800" cy="825506"/>
            <a:chOff x="3723130" y="1626174"/>
            <a:chExt cx="3352800" cy="1485639"/>
          </a:xfrm>
        </p:grpSpPr>
        <p:sp>
          <p:nvSpPr>
            <p:cNvPr id="8" name="직사각형 7">
              <a:extLst>
                <a:ext uri="{FF2B5EF4-FFF2-40B4-BE49-F238E27FC236}">
                  <a16:creationId xmlns:a16="http://schemas.microsoft.com/office/drawing/2014/main" id="{CCB9E4E0-FA9F-940C-12A5-00D406FE5E94}"/>
                </a:ext>
              </a:extLst>
            </p:cNvPr>
            <p:cNvSpPr/>
            <p:nvPr/>
          </p:nvSpPr>
          <p:spPr>
            <a:xfrm>
              <a:off x="3761536" y="1626174"/>
              <a:ext cx="3257121" cy="1485639"/>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chemeClr val="accent3">
                      <a:lumMod val="75000"/>
                    </a:schemeClr>
                  </a:solidFill>
                </a:ln>
                <a:noFill/>
              </a:endParaRPr>
            </a:p>
          </p:txBody>
        </p:sp>
        <p:sp>
          <p:nvSpPr>
            <p:cNvPr id="11" name="TextBox 10">
              <a:extLst>
                <a:ext uri="{FF2B5EF4-FFF2-40B4-BE49-F238E27FC236}">
                  <a16:creationId xmlns:a16="http://schemas.microsoft.com/office/drawing/2014/main" id="{AF9089A1-8A61-BA60-DBD2-1C5B9EFDDD83}"/>
                </a:ext>
              </a:extLst>
            </p:cNvPr>
            <p:cNvSpPr txBox="1"/>
            <p:nvPr/>
          </p:nvSpPr>
          <p:spPr>
            <a:xfrm>
              <a:off x="3723130" y="1696781"/>
              <a:ext cx="3352800" cy="738664"/>
            </a:xfrm>
            <a:prstGeom prst="rect">
              <a:avLst/>
            </a:prstGeom>
            <a:noFill/>
          </p:spPr>
          <p:txBody>
            <a:bodyPr wrap="square" rtlCol="0">
              <a:spAutoFit/>
            </a:bodyPr>
            <a:lstStyle/>
            <a:p>
              <a:r>
                <a:rPr lang="ko-KR" altLang="en-US" sz="1400" b="1" dirty="0">
                  <a:solidFill>
                    <a:srgbClr val="00B050"/>
                  </a:solidFill>
                  <a:highlight>
                    <a:srgbClr val="FFFFFF"/>
                  </a:highlight>
                  <a:latin typeface="-apple-system"/>
                </a:rPr>
                <a:t>모든 죽어가는 것 </a:t>
              </a:r>
              <a:r>
                <a:rPr lang="en-US" altLang="ko-KR" sz="1400" b="1" dirty="0">
                  <a:solidFill>
                    <a:srgbClr val="00B050"/>
                  </a:solidFill>
                  <a:highlight>
                    <a:srgbClr val="FFFFFF"/>
                  </a:highlight>
                  <a:latin typeface="-apple-system"/>
                </a:rPr>
                <a:t>:</a:t>
              </a:r>
            </a:p>
            <a:p>
              <a:r>
                <a:rPr lang="en-US" altLang="ko-KR" sz="1400" dirty="0"/>
                <a:t>“all things that are dying” in line translation </a:t>
              </a:r>
            </a:p>
            <a:p>
              <a:r>
                <a:rPr lang="en-US" altLang="ko-KR" sz="1400" dirty="0"/>
                <a:t>“all that's dying away” in stanza translation</a:t>
              </a:r>
              <a:endParaRPr lang="en-US" altLang="ko-KR" sz="1400" b="1" i="0" dirty="0">
                <a:solidFill>
                  <a:srgbClr val="333333"/>
                </a:solidFill>
                <a:effectLst/>
                <a:highlight>
                  <a:srgbClr val="FFFFFF"/>
                </a:highlight>
                <a:latin typeface="-apple-system"/>
              </a:endParaRPr>
            </a:p>
          </p:txBody>
        </p:sp>
      </p:grpSp>
    </p:spTree>
    <p:extLst>
      <p:ext uri="{BB962C8B-B14F-4D97-AF65-F5344CB8AC3E}">
        <p14:creationId xmlns:p14="http://schemas.microsoft.com/office/powerpoint/2010/main" val="1216774283"/>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de-DE" altLang="ko-KR" dirty="0"/>
              <a:t>Experiment &amp; Evaluation</a:t>
            </a:r>
            <a:endParaRPr lang="de-DE" dirty="0"/>
          </a:p>
        </p:txBody>
      </p:sp>
      <p:sp>
        <p:nvSpPr>
          <p:cNvPr id="4" name="Datumsplatzhalter 3"/>
          <p:cNvSpPr>
            <a:spLocks noGrp="1"/>
          </p:cNvSpPr>
          <p:nvPr>
            <p:ph type="dt" sz="half" idx="10"/>
          </p:nvPr>
        </p:nvSpPr>
        <p:spPr/>
        <p:txBody>
          <a:bodyPr/>
          <a:lstStyle/>
          <a:p>
            <a:r>
              <a:rPr lang="de-DE" dirty="0"/>
              <a:t>29.04.2024</a:t>
            </a:r>
          </a:p>
        </p:txBody>
      </p:sp>
      <p:sp>
        <p:nvSpPr>
          <p:cNvPr id="6" name="Foliennummernplatzhalter 5"/>
          <p:cNvSpPr>
            <a:spLocks noGrp="1"/>
          </p:cNvSpPr>
          <p:nvPr>
            <p:ph type="sldNum" sz="quarter" idx="12"/>
          </p:nvPr>
        </p:nvSpPr>
        <p:spPr/>
        <p:txBody>
          <a:bodyPr/>
          <a:lstStyle/>
          <a:p>
            <a:fld id="{FC0CC166-4E39-43B8-AB91-BDD1C4C9E224}" type="slidenum">
              <a:rPr lang="de-DE" smtClean="0"/>
              <a:t>9</a:t>
            </a:fld>
            <a:endParaRPr lang="de-DE"/>
          </a:p>
        </p:txBody>
      </p:sp>
      <p:grpSp>
        <p:nvGrpSpPr>
          <p:cNvPr id="14" name="그룹 13">
            <a:extLst>
              <a:ext uri="{FF2B5EF4-FFF2-40B4-BE49-F238E27FC236}">
                <a16:creationId xmlns:a16="http://schemas.microsoft.com/office/drawing/2014/main" id="{63EA6EF6-6553-7CE9-A2CC-306AB519D861}"/>
              </a:ext>
            </a:extLst>
          </p:cNvPr>
          <p:cNvGrpSpPr/>
          <p:nvPr/>
        </p:nvGrpSpPr>
        <p:grpSpPr>
          <a:xfrm>
            <a:off x="306387" y="1318556"/>
            <a:ext cx="3474028" cy="4319806"/>
            <a:chOff x="992187" y="1480106"/>
            <a:chExt cx="3474028" cy="4319806"/>
          </a:xfrm>
        </p:grpSpPr>
        <p:sp>
          <p:nvSpPr>
            <p:cNvPr id="12" name="TextBox 11">
              <a:extLst>
                <a:ext uri="{FF2B5EF4-FFF2-40B4-BE49-F238E27FC236}">
                  <a16:creationId xmlns:a16="http://schemas.microsoft.com/office/drawing/2014/main" id="{B4B980B2-177B-B05B-25AC-B1127CEE1BD0}"/>
                </a:ext>
              </a:extLst>
            </p:cNvPr>
            <p:cNvSpPr txBox="1"/>
            <p:nvPr/>
          </p:nvSpPr>
          <p:spPr>
            <a:xfrm>
              <a:off x="992187" y="1480106"/>
              <a:ext cx="916165" cy="369332"/>
            </a:xfrm>
            <a:prstGeom prst="rect">
              <a:avLst/>
            </a:prstGeom>
            <a:noFill/>
          </p:spPr>
          <p:txBody>
            <a:bodyPr wrap="square" rtlCol="0">
              <a:spAutoFit/>
            </a:bodyPr>
            <a:lstStyle/>
            <a:p>
              <a:r>
                <a:rPr lang="de-DE" altLang="ko-KR" b="1" dirty="0">
                  <a:solidFill>
                    <a:srgbClr val="003056"/>
                  </a:solidFill>
                </a:rPr>
                <a:t>Source</a:t>
              </a:r>
              <a:endParaRPr lang="ko-KR" altLang="en-US" b="1" dirty="0">
                <a:solidFill>
                  <a:srgbClr val="003056"/>
                </a:solidFill>
              </a:endParaRPr>
            </a:p>
          </p:txBody>
        </p:sp>
        <p:sp>
          <p:nvSpPr>
            <p:cNvPr id="13" name="TextBox 12">
              <a:extLst>
                <a:ext uri="{FF2B5EF4-FFF2-40B4-BE49-F238E27FC236}">
                  <a16:creationId xmlns:a16="http://schemas.microsoft.com/office/drawing/2014/main" id="{EA08CF1B-C320-05BF-3352-199C6830FCC5}"/>
                </a:ext>
              </a:extLst>
            </p:cNvPr>
            <p:cNvSpPr txBox="1"/>
            <p:nvPr/>
          </p:nvSpPr>
          <p:spPr>
            <a:xfrm>
              <a:off x="992187" y="1829594"/>
              <a:ext cx="3474028" cy="3970318"/>
            </a:xfrm>
            <a:prstGeom prst="rect">
              <a:avLst/>
            </a:prstGeom>
            <a:noFill/>
          </p:spPr>
          <p:txBody>
            <a:bodyPr wrap="none" rtlCol="0">
              <a:spAutoFit/>
            </a:bodyPr>
            <a:lstStyle/>
            <a:p>
              <a:r>
                <a:rPr lang="ko-KR" altLang="en-US" sz="1200" dirty="0">
                  <a:highlight>
                    <a:srgbClr val="FFFF00"/>
                  </a:highlight>
                </a:rPr>
                <a:t>어떤 사람은 </a:t>
              </a:r>
              <a:r>
                <a:rPr lang="ko-KR" altLang="en-US" sz="1200" dirty="0">
                  <a:highlight>
                    <a:srgbClr val="C0C0C0"/>
                  </a:highlight>
                </a:rPr>
                <a:t>불의 길</a:t>
              </a:r>
              <a:r>
                <a:rPr lang="ko-KR" altLang="en-US" sz="1200" dirty="0"/>
                <a:t>을 가지만</a:t>
              </a:r>
            </a:p>
            <a:p>
              <a:r>
                <a:rPr lang="ko-KR" altLang="en-US" sz="1200" dirty="0">
                  <a:highlight>
                    <a:srgbClr val="FFFF00"/>
                  </a:highlight>
                </a:rPr>
                <a:t>어떤 사람은 </a:t>
              </a:r>
              <a:r>
                <a:rPr lang="ko-KR" altLang="en-US" sz="1200" dirty="0">
                  <a:highlight>
                    <a:srgbClr val="C0C0C0"/>
                  </a:highlight>
                </a:rPr>
                <a:t>꽃의 길</a:t>
              </a:r>
              <a:r>
                <a:rPr lang="ko-KR" altLang="en-US" sz="1200" dirty="0"/>
                <a:t>을 간다</a:t>
              </a:r>
            </a:p>
            <a:p>
              <a:r>
                <a:rPr lang="ko-KR" altLang="en-US" sz="1200" dirty="0">
                  <a:highlight>
                    <a:srgbClr val="FFFF00"/>
                  </a:highlight>
                </a:rPr>
                <a:t>어떤 사람은 </a:t>
              </a:r>
              <a:r>
                <a:rPr lang="ko-KR" altLang="en-US" sz="1200" dirty="0">
                  <a:highlight>
                    <a:srgbClr val="C0C0C0"/>
                  </a:highlight>
                </a:rPr>
                <a:t>불을 역사</a:t>
              </a:r>
              <a:r>
                <a:rPr lang="ko-KR" altLang="en-US" sz="1200" dirty="0"/>
                <a:t>라 말하지만</a:t>
              </a:r>
            </a:p>
            <a:p>
              <a:r>
                <a:rPr lang="ko-KR" altLang="en-US" sz="1200" dirty="0">
                  <a:highlight>
                    <a:srgbClr val="FFFF00"/>
                  </a:highlight>
                </a:rPr>
                <a:t>어떤 사람은 </a:t>
              </a:r>
              <a:r>
                <a:rPr lang="ko-KR" altLang="en-US" sz="1200" dirty="0">
                  <a:highlight>
                    <a:srgbClr val="C0C0C0"/>
                  </a:highlight>
                </a:rPr>
                <a:t>꽃을 역사</a:t>
              </a:r>
              <a:r>
                <a:rPr lang="ko-KR" altLang="en-US" sz="1200" dirty="0"/>
                <a:t>라 말하고</a:t>
              </a:r>
            </a:p>
            <a:p>
              <a:r>
                <a:rPr lang="ko-KR" altLang="en-US" sz="1200" dirty="0">
                  <a:highlight>
                    <a:srgbClr val="FFFF00"/>
                  </a:highlight>
                </a:rPr>
                <a:t>어떤 사람은 </a:t>
              </a:r>
              <a:r>
                <a:rPr lang="ko-KR" altLang="en-US" sz="1200" dirty="0"/>
                <a:t>아우성의 길을 가지만</a:t>
              </a:r>
            </a:p>
            <a:p>
              <a:r>
                <a:rPr lang="ko-KR" altLang="en-US" sz="1200" dirty="0">
                  <a:highlight>
                    <a:srgbClr val="FFFF00"/>
                  </a:highlight>
                </a:rPr>
                <a:t>어떤 사람은 </a:t>
              </a:r>
              <a:r>
                <a:rPr lang="ko-KR" altLang="en-US" sz="1200" dirty="0"/>
                <a:t>노래의 길을 간다</a:t>
              </a:r>
            </a:p>
            <a:p>
              <a:endParaRPr lang="ko-KR" altLang="en-US" sz="1200" dirty="0"/>
            </a:p>
            <a:p>
              <a:r>
                <a:rPr lang="ko-KR" altLang="en-US" sz="1200" dirty="0" err="1"/>
                <a:t>너희여</a:t>
              </a:r>
              <a:r>
                <a:rPr lang="ko-KR" altLang="en-US" sz="1200" dirty="0"/>
                <a:t> </a:t>
              </a:r>
              <a:r>
                <a:rPr lang="ko-KR" altLang="en-US" sz="1200" dirty="0">
                  <a:highlight>
                    <a:srgbClr val="A7D7FF"/>
                  </a:highlight>
                </a:rPr>
                <a:t>참 삶이란 불이냐 꽃이냐</a:t>
              </a:r>
            </a:p>
            <a:p>
              <a:r>
                <a:rPr lang="ko-KR" altLang="en-US" sz="1200" dirty="0"/>
                <a:t>사랑의 </a:t>
              </a:r>
              <a:r>
                <a:rPr lang="ko-KR" altLang="en-US" sz="1200" dirty="0">
                  <a:highlight>
                    <a:srgbClr val="A7D7FF"/>
                  </a:highlight>
                </a:rPr>
                <a:t>참 길이란 불이냐 꽃이냐</a:t>
              </a:r>
            </a:p>
            <a:p>
              <a:r>
                <a:rPr lang="ko-KR" altLang="en-US" sz="1200" dirty="0"/>
                <a:t>불은 밤의 어두움을 밝히지만</a:t>
              </a:r>
            </a:p>
            <a:p>
              <a:r>
                <a:rPr lang="ko-KR" altLang="en-US" sz="1200" dirty="0"/>
                <a:t>꽃은 낮의 어두움을 밝힌다</a:t>
              </a:r>
            </a:p>
            <a:p>
              <a:r>
                <a:rPr lang="ko-KR" altLang="en-US" sz="1200" dirty="0"/>
                <a:t>불이 피 묻은 칼을 녹여버릴 때</a:t>
              </a:r>
            </a:p>
            <a:p>
              <a:r>
                <a:rPr lang="ko-KR" altLang="en-US" sz="1200" dirty="0"/>
                <a:t>꽃은 피 묻은 칼을 닦아내는 것이다</a:t>
              </a:r>
            </a:p>
            <a:p>
              <a:endParaRPr lang="ko-KR" altLang="en-US" sz="1200" dirty="0"/>
            </a:p>
            <a:p>
              <a:r>
                <a:rPr lang="ko-KR" altLang="en-US" sz="1200" dirty="0">
                  <a:highlight>
                    <a:srgbClr val="FFFF00"/>
                  </a:highlight>
                </a:rPr>
                <a:t>어떤 사람은 </a:t>
              </a:r>
              <a:r>
                <a:rPr lang="ko-KR" altLang="en-US" sz="1200" dirty="0"/>
                <a:t>불의 길을 가지만</a:t>
              </a:r>
            </a:p>
            <a:p>
              <a:r>
                <a:rPr lang="ko-KR" altLang="en-US" sz="1200" dirty="0">
                  <a:highlight>
                    <a:srgbClr val="FFFF00"/>
                  </a:highlight>
                </a:rPr>
                <a:t>어떤 사람은 </a:t>
              </a:r>
              <a:r>
                <a:rPr lang="ko-KR" altLang="en-US" sz="1200" dirty="0"/>
                <a:t>꽃의 길을 간다</a:t>
              </a:r>
            </a:p>
            <a:p>
              <a:r>
                <a:rPr lang="ko-KR" altLang="en-US" sz="1200" dirty="0">
                  <a:highlight>
                    <a:srgbClr val="FFFF00"/>
                  </a:highlight>
                </a:rPr>
                <a:t>어떤 사람은 </a:t>
              </a:r>
              <a:r>
                <a:rPr lang="ko-KR" altLang="en-US" sz="1200" dirty="0"/>
                <a:t>아우성의 길을 가지만</a:t>
              </a:r>
            </a:p>
            <a:p>
              <a:r>
                <a:rPr lang="ko-KR" altLang="en-US" sz="1200" dirty="0">
                  <a:highlight>
                    <a:srgbClr val="FFFF00"/>
                  </a:highlight>
                </a:rPr>
                <a:t>어떤 사람은 </a:t>
              </a:r>
              <a:r>
                <a:rPr lang="ko-KR" altLang="en-US" sz="1200" dirty="0"/>
                <a:t>노래의 길을 간다</a:t>
              </a:r>
            </a:p>
            <a:p>
              <a:r>
                <a:rPr lang="ko-KR" altLang="en-US" sz="1200" dirty="0">
                  <a:highlight>
                    <a:srgbClr val="FFFF00"/>
                  </a:highlight>
                </a:rPr>
                <a:t>어떤 사람은 </a:t>
              </a:r>
              <a:r>
                <a:rPr lang="ko-KR" altLang="en-US" sz="1200" dirty="0"/>
                <a:t>아우성과 노래의 길을 한꺼번에 간다</a:t>
              </a:r>
            </a:p>
            <a:p>
              <a:r>
                <a:rPr lang="ko-KR" altLang="en-US" sz="1200" dirty="0">
                  <a:highlight>
                    <a:srgbClr val="FFFF00"/>
                  </a:highlight>
                </a:rPr>
                <a:t>어떤 사람은 </a:t>
              </a:r>
              <a:r>
                <a:rPr lang="ko-KR" altLang="en-US" sz="1200" dirty="0"/>
                <a:t>불과 꽃의</a:t>
              </a:r>
            </a:p>
            <a:p>
              <a:r>
                <a:rPr lang="ko-KR" altLang="en-US" sz="1200" dirty="0"/>
                <a:t>길을 한꺼번에 </a:t>
              </a:r>
              <a:r>
                <a:rPr lang="ko-KR" altLang="en-US" sz="1200" dirty="0" err="1"/>
                <a:t>한꺼번에</a:t>
              </a:r>
              <a:r>
                <a:rPr lang="ko-KR" altLang="en-US" sz="1200" dirty="0"/>
                <a:t> 간다</a:t>
              </a:r>
            </a:p>
          </p:txBody>
        </p:sp>
      </p:grpSp>
      <p:grpSp>
        <p:nvGrpSpPr>
          <p:cNvPr id="16" name="그룹 15">
            <a:extLst>
              <a:ext uri="{FF2B5EF4-FFF2-40B4-BE49-F238E27FC236}">
                <a16:creationId xmlns:a16="http://schemas.microsoft.com/office/drawing/2014/main" id="{BA1885DE-1236-F150-76ED-FFB78A71D07F}"/>
              </a:ext>
            </a:extLst>
          </p:cNvPr>
          <p:cNvGrpSpPr/>
          <p:nvPr/>
        </p:nvGrpSpPr>
        <p:grpSpPr>
          <a:xfrm>
            <a:off x="3962173" y="1318556"/>
            <a:ext cx="4389408" cy="4319806"/>
            <a:chOff x="992186" y="1480106"/>
            <a:chExt cx="4389408" cy="4319806"/>
          </a:xfrm>
        </p:grpSpPr>
        <p:sp>
          <p:nvSpPr>
            <p:cNvPr id="17" name="TextBox 16">
              <a:extLst>
                <a:ext uri="{FF2B5EF4-FFF2-40B4-BE49-F238E27FC236}">
                  <a16:creationId xmlns:a16="http://schemas.microsoft.com/office/drawing/2014/main" id="{D02C7577-25CC-51C9-0F39-F297D97C5F27}"/>
                </a:ext>
              </a:extLst>
            </p:cNvPr>
            <p:cNvSpPr txBox="1"/>
            <p:nvPr/>
          </p:nvSpPr>
          <p:spPr>
            <a:xfrm>
              <a:off x="992186" y="1480106"/>
              <a:ext cx="2440213" cy="369332"/>
            </a:xfrm>
            <a:prstGeom prst="rect">
              <a:avLst/>
            </a:prstGeom>
            <a:noFill/>
          </p:spPr>
          <p:txBody>
            <a:bodyPr wrap="square" rtlCol="0">
              <a:spAutoFit/>
            </a:bodyPr>
            <a:lstStyle/>
            <a:p>
              <a:r>
                <a:rPr lang="en-US" altLang="ko-KR" b="1" dirty="0">
                  <a:solidFill>
                    <a:srgbClr val="003056"/>
                  </a:solidFill>
                </a:rPr>
                <a:t>Line-level translation</a:t>
              </a:r>
              <a:endParaRPr lang="ko-KR" altLang="en-US" b="1" dirty="0">
                <a:solidFill>
                  <a:srgbClr val="003056"/>
                </a:solidFill>
              </a:endParaRPr>
            </a:p>
          </p:txBody>
        </p:sp>
        <p:sp>
          <p:nvSpPr>
            <p:cNvPr id="18" name="TextBox 17">
              <a:extLst>
                <a:ext uri="{FF2B5EF4-FFF2-40B4-BE49-F238E27FC236}">
                  <a16:creationId xmlns:a16="http://schemas.microsoft.com/office/drawing/2014/main" id="{9EC5CF0F-58C7-8492-6438-3BCEA4C91804}"/>
                </a:ext>
              </a:extLst>
            </p:cNvPr>
            <p:cNvSpPr txBox="1"/>
            <p:nvPr/>
          </p:nvSpPr>
          <p:spPr>
            <a:xfrm>
              <a:off x="992187" y="1829594"/>
              <a:ext cx="4389407" cy="3970318"/>
            </a:xfrm>
            <a:prstGeom prst="rect">
              <a:avLst/>
            </a:prstGeom>
            <a:noFill/>
          </p:spPr>
          <p:txBody>
            <a:bodyPr wrap="none" rtlCol="0">
              <a:spAutoFit/>
            </a:bodyPr>
            <a:lstStyle/>
            <a:p>
              <a:r>
                <a:rPr lang="en-US" altLang="ko-KR" sz="1200" dirty="0">
                  <a:highlight>
                    <a:srgbClr val="FFFF00"/>
                  </a:highlight>
                </a:rPr>
                <a:t>A person </a:t>
              </a:r>
              <a:r>
                <a:rPr lang="en-US" altLang="ko-KR" sz="1200" dirty="0"/>
                <a:t>walks </a:t>
              </a:r>
              <a:r>
                <a:rPr lang="en-US" altLang="ko-KR" sz="1200" dirty="0">
                  <a:highlight>
                    <a:srgbClr val="C0C0C0"/>
                  </a:highlight>
                </a:rPr>
                <a:t>the path of suffering</a:t>
              </a:r>
              <a:r>
                <a:rPr lang="en-US" altLang="ko-KR" sz="1200" dirty="0"/>
                <a:t>.</a:t>
              </a:r>
            </a:p>
            <a:p>
              <a:r>
                <a:rPr lang="en-US" altLang="ko-KR" sz="1200" b="1" dirty="0">
                  <a:solidFill>
                    <a:srgbClr val="FF0000"/>
                  </a:solidFill>
                  <a:highlight>
                    <a:srgbClr val="FFFF00"/>
                  </a:highlight>
                </a:rPr>
                <a:t>Someone</a:t>
              </a:r>
              <a:r>
                <a:rPr lang="en-US" altLang="ko-KR" sz="1200" dirty="0">
                  <a:solidFill>
                    <a:schemeClr val="accent3">
                      <a:lumMod val="75000"/>
                    </a:schemeClr>
                  </a:solidFill>
                </a:rPr>
                <a:t> </a:t>
              </a:r>
              <a:r>
                <a:rPr lang="en-US" altLang="ko-KR" sz="1200" dirty="0"/>
                <a:t>walks along </a:t>
              </a:r>
              <a:r>
                <a:rPr lang="en-US" altLang="ko-KR" sz="1200" dirty="0">
                  <a:highlight>
                    <a:srgbClr val="C0C0C0"/>
                  </a:highlight>
                </a:rPr>
                <a:t>the path of flowers</a:t>
              </a:r>
            </a:p>
            <a:p>
              <a:r>
                <a:rPr lang="en-US" altLang="ko-KR" sz="1200" dirty="0">
                  <a:highlight>
                    <a:srgbClr val="FFFF00"/>
                  </a:highlight>
                </a:rPr>
                <a:t>One person </a:t>
              </a:r>
              <a:r>
                <a:rPr lang="en-US" altLang="ko-KR" sz="1200" dirty="0"/>
                <a:t>calls </a:t>
              </a:r>
              <a:r>
                <a:rPr lang="en-US" altLang="ko-KR" sz="1200" dirty="0">
                  <a:highlight>
                    <a:srgbClr val="C0C0C0"/>
                  </a:highlight>
                </a:rPr>
                <a:t>the flame a history</a:t>
              </a:r>
              <a:r>
                <a:rPr lang="en-US" altLang="ko-KR" sz="1200" dirty="0"/>
                <a:t>.</a:t>
              </a:r>
            </a:p>
            <a:p>
              <a:r>
                <a:rPr lang="en-US" altLang="ko-KR" sz="1200" b="1" dirty="0">
                  <a:solidFill>
                    <a:srgbClr val="FF0000"/>
                  </a:solidFill>
                  <a:highlight>
                    <a:srgbClr val="FFFF00"/>
                  </a:highlight>
                </a:rPr>
                <a:t>A</a:t>
              </a:r>
              <a:r>
                <a:rPr lang="en-US" altLang="ko-KR" sz="1200" dirty="0">
                  <a:solidFill>
                    <a:srgbClr val="FF0000"/>
                  </a:solidFill>
                  <a:highlight>
                    <a:srgbClr val="FFFF00"/>
                  </a:highlight>
                </a:rPr>
                <a:t> </a:t>
              </a:r>
              <a:r>
                <a:rPr lang="en-US" altLang="ko-KR" sz="1200" b="1" dirty="0">
                  <a:solidFill>
                    <a:srgbClr val="FF0000"/>
                  </a:solidFill>
                  <a:highlight>
                    <a:srgbClr val="FFFF00"/>
                  </a:highlight>
                </a:rPr>
                <a:t>person</a:t>
              </a:r>
              <a:r>
                <a:rPr lang="en-US" altLang="ko-KR" sz="1200" dirty="0">
                  <a:solidFill>
                    <a:srgbClr val="FF0000"/>
                  </a:solidFill>
                  <a:highlight>
                    <a:srgbClr val="FFFF00"/>
                  </a:highlight>
                </a:rPr>
                <a:t> </a:t>
              </a:r>
              <a:r>
                <a:rPr lang="en-US" altLang="ko-KR" sz="1200" dirty="0"/>
                <a:t>called </a:t>
              </a:r>
              <a:r>
                <a:rPr lang="en-US" altLang="ko-KR" sz="1200" dirty="0">
                  <a:highlight>
                    <a:srgbClr val="C0C0C0"/>
                  </a:highlight>
                </a:rPr>
                <a:t>a flower a history</a:t>
              </a:r>
              <a:r>
                <a:rPr lang="en-US" altLang="ko-KR" sz="1200" dirty="0"/>
                <a:t>.</a:t>
              </a:r>
            </a:p>
            <a:p>
              <a:r>
                <a:rPr lang="en-US" altLang="ko-KR" sz="1200" dirty="0">
                  <a:highlight>
                    <a:srgbClr val="FFFF00"/>
                  </a:highlight>
                </a:rPr>
                <a:t>A person </a:t>
              </a:r>
              <a:r>
                <a:rPr lang="en-US" altLang="ko-KR" sz="1200" dirty="0"/>
                <a:t>walks along the road to Autumn's Gain.</a:t>
              </a:r>
            </a:p>
            <a:p>
              <a:r>
                <a:rPr lang="en-US" altLang="ko-KR" sz="1200" b="1" dirty="0">
                  <a:solidFill>
                    <a:srgbClr val="FF0000"/>
                  </a:solidFill>
                  <a:highlight>
                    <a:srgbClr val="FFFF00"/>
                  </a:highlight>
                </a:rPr>
                <a:t>A</a:t>
              </a:r>
              <a:r>
                <a:rPr lang="en-US" altLang="ko-KR" sz="1200" dirty="0">
                  <a:solidFill>
                    <a:srgbClr val="FF0000"/>
                  </a:solidFill>
                  <a:highlight>
                    <a:srgbClr val="FFFF00"/>
                  </a:highlight>
                </a:rPr>
                <a:t> </a:t>
              </a:r>
              <a:r>
                <a:rPr lang="en-US" altLang="ko-KR" sz="1200" b="1" dirty="0">
                  <a:solidFill>
                    <a:srgbClr val="FF0000"/>
                  </a:solidFill>
                  <a:highlight>
                    <a:srgbClr val="FFFF00"/>
                  </a:highlight>
                </a:rPr>
                <a:t>certain</a:t>
              </a:r>
              <a:r>
                <a:rPr lang="en-US" altLang="ko-KR" sz="1200" dirty="0">
                  <a:solidFill>
                    <a:srgbClr val="FF0000"/>
                  </a:solidFill>
                  <a:highlight>
                    <a:srgbClr val="FFFF00"/>
                  </a:highlight>
                </a:rPr>
                <a:t> </a:t>
              </a:r>
              <a:r>
                <a:rPr lang="en-US" altLang="ko-KR" sz="1200" dirty="0"/>
                <a:t>person walks the path of a song.</a:t>
              </a:r>
            </a:p>
            <a:p>
              <a:endParaRPr lang="en-US" altLang="ko-KR" sz="1200" dirty="0"/>
            </a:p>
            <a:p>
              <a:r>
                <a:rPr lang="en-US" altLang="ko-KR" sz="1200" dirty="0"/>
                <a:t>You, </a:t>
              </a:r>
              <a:r>
                <a:rPr lang="en-US" altLang="ko-KR" sz="1200" b="1" dirty="0">
                  <a:solidFill>
                    <a:srgbClr val="FF0000"/>
                  </a:solidFill>
                  <a:highlight>
                    <a:srgbClr val="A7D7FF"/>
                  </a:highlight>
                </a:rPr>
                <a:t>is life a flame or a flower?</a:t>
              </a:r>
            </a:p>
            <a:p>
              <a:r>
                <a:rPr lang="en-US" altLang="ko-KR" sz="1200" b="1" dirty="0">
                  <a:solidFill>
                    <a:srgbClr val="FF0000"/>
                  </a:solidFill>
                  <a:highlight>
                    <a:srgbClr val="A7D7FF"/>
                  </a:highlight>
                </a:rPr>
                <a:t>What is the true</a:t>
              </a:r>
              <a:r>
                <a:rPr lang="en-US" altLang="ko-KR" sz="1200" b="1" u="sng" dirty="0">
                  <a:solidFill>
                    <a:srgbClr val="FF0000"/>
                  </a:solidFill>
                  <a:highlight>
                    <a:srgbClr val="A7D7FF"/>
                  </a:highlight>
                </a:rPr>
                <a:t> length </a:t>
              </a:r>
              <a:r>
                <a:rPr lang="en-US" altLang="ko-KR" sz="1200" b="1" dirty="0">
                  <a:solidFill>
                    <a:srgbClr val="FF0000"/>
                  </a:solidFill>
                  <a:highlight>
                    <a:srgbClr val="A7D7FF"/>
                  </a:highlight>
                </a:rPr>
                <a:t>of love, a flame or a flower</a:t>
              </a:r>
              <a:r>
                <a:rPr lang="en-US" altLang="ko-KR" sz="1200" b="1" dirty="0">
                  <a:highlight>
                    <a:srgbClr val="A7D7FF"/>
                  </a:highlight>
                </a:rPr>
                <a:t>?</a:t>
              </a:r>
            </a:p>
            <a:p>
              <a:r>
                <a:rPr lang="en-US" altLang="ko-KR" sz="1200" dirty="0"/>
                <a:t>The flame sheds light on the night's darkness</a:t>
              </a:r>
              <a:r>
                <a:rPr lang="en-US" altLang="ko-KR" sz="1200" dirty="0">
                  <a:highlight>
                    <a:srgbClr val="C0C0C0"/>
                  </a:highlight>
                </a:rPr>
                <a:t>.</a:t>
              </a:r>
            </a:p>
            <a:p>
              <a:r>
                <a:rPr lang="en-US" altLang="ko-KR" sz="1200" dirty="0"/>
                <a:t>Flowers reveal the darkness of the day</a:t>
              </a:r>
              <a:r>
                <a:rPr lang="en-US" altLang="ko-KR" sz="1200" dirty="0">
                  <a:highlight>
                    <a:srgbClr val="C0C0C0"/>
                  </a:highlight>
                </a:rPr>
                <a:t>.</a:t>
              </a:r>
            </a:p>
            <a:p>
              <a:r>
                <a:rPr lang="en-US" altLang="ko-KR" sz="1200" dirty="0"/>
                <a:t>A flame melting a sword drenched in its own fire.</a:t>
              </a:r>
            </a:p>
            <a:p>
              <a:r>
                <a:rPr lang="en-US" altLang="ko-KR" sz="1200" dirty="0"/>
                <a:t>A flower is the task of wiping off a knife stained with its own petals.</a:t>
              </a:r>
            </a:p>
            <a:p>
              <a:endParaRPr lang="en-US" altLang="ko-KR" sz="1200" dirty="0"/>
            </a:p>
            <a:p>
              <a:r>
                <a:rPr lang="en-US" altLang="ko-KR" sz="1200" dirty="0">
                  <a:highlight>
                    <a:srgbClr val="FFFF00"/>
                  </a:highlight>
                </a:rPr>
                <a:t>One person</a:t>
              </a:r>
              <a:r>
                <a:rPr lang="en-US" altLang="ko-KR" sz="1200" dirty="0"/>
                <a:t> walks along the path of fire.</a:t>
              </a:r>
            </a:p>
            <a:p>
              <a:r>
                <a:rPr lang="en-US" altLang="ko-KR" sz="1200" b="1" dirty="0">
                  <a:solidFill>
                    <a:srgbClr val="FF0000"/>
                  </a:solidFill>
                  <a:highlight>
                    <a:srgbClr val="FFFF00"/>
                  </a:highlight>
                </a:rPr>
                <a:t>A person </a:t>
              </a:r>
              <a:r>
                <a:rPr lang="en-US" altLang="ko-KR" sz="1200" dirty="0"/>
                <a:t>walks the path of flowers.</a:t>
              </a:r>
            </a:p>
            <a:p>
              <a:r>
                <a:rPr lang="en-US" altLang="ko-KR" sz="1200" dirty="0">
                  <a:highlight>
                    <a:srgbClr val="FFFF00"/>
                  </a:highlight>
                </a:rPr>
                <a:t>A person </a:t>
              </a:r>
              <a:r>
                <a:rPr lang="en-US" altLang="ko-KR" sz="1200" dirty="0"/>
                <a:t>chooses the path of </a:t>
              </a:r>
              <a:r>
                <a:rPr lang="en-US" altLang="ko-KR" sz="1200" dirty="0" err="1"/>
                <a:t>Awsung</a:t>
              </a:r>
              <a:r>
                <a:rPr lang="en-US" altLang="ko-KR" sz="1200" dirty="0"/>
                <a:t>.</a:t>
              </a:r>
            </a:p>
            <a:p>
              <a:r>
                <a:rPr lang="en-US" altLang="ko-KR" sz="1200" b="1" dirty="0">
                  <a:solidFill>
                    <a:srgbClr val="FF0000"/>
                  </a:solidFill>
                  <a:highlight>
                    <a:srgbClr val="FFFF00"/>
                  </a:highlight>
                </a:rPr>
                <a:t>One person </a:t>
              </a:r>
              <a:r>
                <a:rPr lang="en-US" altLang="ko-KR" sz="1200" dirty="0"/>
                <a:t>goes the way of a song.</a:t>
              </a:r>
            </a:p>
            <a:p>
              <a:r>
                <a:rPr lang="en-US" altLang="ko-KR" sz="1200" dirty="0">
                  <a:highlight>
                    <a:srgbClr val="FFFF00"/>
                  </a:highlight>
                </a:rPr>
                <a:t>One person </a:t>
              </a:r>
              <a:r>
                <a:rPr lang="en-US" altLang="ko-KR" sz="1200" dirty="0"/>
                <a:t>walks the path of </a:t>
              </a:r>
              <a:r>
                <a:rPr lang="en-US" altLang="ko-KR" sz="1200" dirty="0" err="1"/>
                <a:t>Awsung</a:t>
              </a:r>
              <a:r>
                <a:rPr lang="en-US" altLang="ko-KR" sz="1200" dirty="0"/>
                <a:t> and song at once.</a:t>
              </a:r>
            </a:p>
            <a:p>
              <a:r>
                <a:rPr lang="en-US" altLang="ko-KR" sz="1200" b="1" dirty="0">
                  <a:solidFill>
                    <a:srgbClr val="FF0000"/>
                  </a:solidFill>
                  <a:highlight>
                    <a:srgbClr val="FFFF00"/>
                  </a:highlight>
                </a:rPr>
                <a:t>A Person </a:t>
              </a:r>
              <a:r>
                <a:rPr lang="en-US" altLang="ko-KR" sz="1200" dirty="0"/>
                <a:t>and a Magnolia Flower</a:t>
              </a:r>
            </a:p>
            <a:p>
              <a:r>
                <a:rPr lang="en-US" altLang="ko-KR" sz="1200" dirty="0"/>
                <a:t>Step by step, we go down the road.</a:t>
              </a:r>
              <a:endParaRPr lang="ko-KR" altLang="en-US" sz="1200" dirty="0"/>
            </a:p>
          </p:txBody>
        </p:sp>
      </p:grpSp>
      <p:grpSp>
        <p:nvGrpSpPr>
          <p:cNvPr id="19" name="그룹 18">
            <a:extLst>
              <a:ext uri="{FF2B5EF4-FFF2-40B4-BE49-F238E27FC236}">
                <a16:creationId xmlns:a16="http://schemas.microsoft.com/office/drawing/2014/main" id="{FB8FBBC4-5BA5-A3EF-C73F-4145A66B6BBB}"/>
              </a:ext>
            </a:extLst>
          </p:cNvPr>
          <p:cNvGrpSpPr/>
          <p:nvPr/>
        </p:nvGrpSpPr>
        <p:grpSpPr>
          <a:xfrm>
            <a:off x="8533341" y="1318556"/>
            <a:ext cx="3446841" cy="4135140"/>
            <a:chOff x="992187" y="1480106"/>
            <a:chExt cx="3446841" cy="4135140"/>
          </a:xfrm>
        </p:grpSpPr>
        <p:sp>
          <p:nvSpPr>
            <p:cNvPr id="20" name="TextBox 19">
              <a:extLst>
                <a:ext uri="{FF2B5EF4-FFF2-40B4-BE49-F238E27FC236}">
                  <a16:creationId xmlns:a16="http://schemas.microsoft.com/office/drawing/2014/main" id="{A7778A15-51E5-0233-3341-079D28A222C7}"/>
                </a:ext>
              </a:extLst>
            </p:cNvPr>
            <p:cNvSpPr txBox="1"/>
            <p:nvPr/>
          </p:nvSpPr>
          <p:spPr>
            <a:xfrm>
              <a:off x="992187" y="1480106"/>
              <a:ext cx="2745846" cy="369332"/>
            </a:xfrm>
            <a:prstGeom prst="rect">
              <a:avLst/>
            </a:prstGeom>
            <a:noFill/>
          </p:spPr>
          <p:txBody>
            <a:bodyPr wrap="square" rtlCol="0">
              <a:spAutoFit/>
            </a:bodyPr>
            <a:lstStyle/>
            <a:p>
              <a:r>
                <a:rPr lang="en-US" altLang="ko-KR" b="1" dirty="0">
                  <a:solidFill>
                    <a:srgbClr val="003056"/>
                  </a:solidFill>
                </a:rPr>
                <a:t>Stanza-level translation</a:t>
              </a:r>
              <a:endParaRPr lang="ko-KR" altLang="en-US" b="1" dirty="0">
                <a:solidFill>
                  <a:srgbClr val="003056"/>
                </a:solidFill>
              </a:endParaRPr>
            </a:p>
          </p:txBody>
        </p:sp>
        <p:sp>
          <p:nvSpPr>
            <p:cNvPr id="21" name="TextBox 20">
              <a:extLst>
                <a:ext uri="{FF2B5EF4-FFF2-40B4-BE49-F238E27FC236}">
                  <a16:creationId xmlns:a16="http://schemas.microsoft.com/office/drawing/2014/main" id="{E2082ED6-B498-BD90-AAEA-2B85502A438D}"/>
                </a:ext>
              </a:extLst>
            </p:cNvPr>
            <p:cNvSpPr txBox="1"/>
            <p:nvPr/>
          </p:nvSpPr>
          <p:spPr>
            <a:xfrm>
              <a:off x="992187" y="1829594"/>
              <a:ext cx="3446841" cy="3785652"/>
            </a:xfrm>
            <a:prstGeom prst="rect">
              <a:avLst/>
            </a:prstGeom>
            <a:noFill/>
          </p:spPr>
          <p:txBody>
            <a:bodyPr wrap="none" rtlCol="0">
              <a:spAutoFit/>
            </a:bodyPr>
            <a:lstStyle/>
            <a:p>
              <a:r>
                <a:rPr lang="ko-KR" altLang="en-US" sz="1200" dirty="0">
                  <a:highlight>
                    <a:srgbClr val="FFFF00"/>
                  </a:highlight>
                </a:rPr>
                <a:t>One </a:t>
              </a:r>
              <a:r>
                <a:rPr lang="ko-KR" altLang="en-US" sz="1200" dirty="0" err="1">
                  <a:highlight>
                    <a:srgbClr val="FFFF00"/>
                  </a:highlight>
                </a:rPr>
                <a:t>person</a:t>
              </a:r>
              <a:r>
                <a:rPr lang="ko-KR" altLang="en-US" sz="1200" dirty="0">
                  <a:highlight>
                    <a:srgbClr val="FFFF00"/>
                  </a:highlight>
                </a:rPr>
                <a:t> </a:t>
              </a:r>
              <a:r>
                <a:rPr lang="ko-KR" altLang="en-US" sz="1200" dirty="0" err="1"/>
                <a:t>walks</a:t>
              </a:r>
              <a:r>
                <a:rPr lang="ko-KR" altLang="en-US" sz="1200" dirty="0"/>
                <a:t> </a:t>
              </a:r>
              <a:r>
                <a:rPr lang="ko-KR" altLang="en-US" sz="1200" dirty="0" err="1">
                  <a:highlight>
                    <a:srgbClr val="C0C0C0"/>
                  </a:highlight>
                </a:rPr>
                <a:t>the</a:t>
              </a:r>
              <a:r>
                <a:rPr lang="ko-KR" altLang="en-US" sz="1200" dirty="0">
                  <a:highlight>
                    <a:srgbClr val="C0C0C0"/>
                  </a:highlight>
                </a:rPr>
                <a:t> </a:t>
              </a:r>
              <a:r>
                <a:rPr lang="ko-KR" altLang="en-US" sz="1200" dirty="0" err="1">
                  <a:highlight>
                    <a:srgbClr val="C0C0C0"/>
                  </a:highlight>
                </a:rPr>
                <a:t>path</a:t>
              </a:r>
              <a:r>
                <a:rPr lang="ko-KR" altLang="en-US" sz="1200" dirty="0">
                  <a:highlight>
                    <a:srgbClr val="C0C0C0"/>
                  </a:highlight>
                </a:rPr>
                <a:t> of </a:t>
              </a:r>
              <a:r>
                <a:rPr lang="ko-KR" altLang="en-US" sz="1200" dirty="0" err="1">
                  <a:highlight>
                    <a:srgbClr val="C0C0C0"/>
                  </a:highlight>
                </a:rPr>
                <a:t>fire</a:t>
              </a:r>
              <a:r>
                <a:rPr lang="ko-KR" altLang="en-US" sz="1200" dirty="0"/>
                <a:t>,</a:t>
              </a:r>
            </a:p>
            <a:p>
              <a:r>
                <a:rPr lang="ko-KR" altLang="en-US" sz="1200" b="1" dirty="0" err="1">
                  <a:solidFill>
                    <a:srgbClr val="0070C0"/>
                  </a:solidFill>
                  <a:highlight>
                    <a:srgbClr val="FFFF00"/>
                  </a:highlight>
                </a:rPr>
                <a:t>Another</a:t>
              </a:r>
              <a:r>
                <a:rPr lang="ko-KR" altLang="en-US" sz="1200" dirty="0"/>
                <a:t> </a:t>
              </a:r>
              <a:r>
                <a:rPr lang="ko-KR" altLang="en-US" sz="1200" dirty="0" err="1"/>
                <a:t>treads</a:t>
              </a:r>
              <a:r>
                <a:rPr lang="ko-KR" altLang="en-US" sz="1200" dirty="0"/>
                <a:t> </a:t>
              </a:r>
              <a:r>
                <a:rPr lang="ko-KR" altLang="en-US" sz="1200" dirty="0" err="1">
                  <a:highlight>
                    <a:srgbClr val="C0C0C0"/>
                  </a:highlight>
                </a:rPr>
                <a:t>the</a:t>
              </a:r>
              <a:r>
                <a:rPr lang="ko-KR" altLang="en-US" sz="1200" dirty="0">
                  <a:highlight>
                    <a:srgbClr val="C0C0C0"/>
                  </a:highlight>
                </a:rPr>
                <a:t> </a:t>
              </a:r>
              <a:r>
                <a:rPr lang="ko-KR" altLang="en-US" sz="1200" dirty="0" err="1">
                  <a:highlight>
                    <a:srgbClr val="C0C0C0"/>
                  </a:highlight>
                </a:rPr>
                <a:t>flowered</a:t>
              </a:r>
              <a:r>
                <a:rPr lang="ko-KR" altLang="en-US" sz="1200" dirty="0">
                  <a:highlight>
                    <a:srgbClr val="C0C0C0"/>
                  </a:highlight>
                </a:rPr>
                <a:t> </a:t>
              </a:r>
              <a:r>
                <a:rPr lang="ko-KR" altLang="en-US" sz="1200" dirty="0" err="1">
                  <a:highlight>
                    <a:srgbClr val="C0C0C0"/>
                  </a:highlight>
                </a:rPr>
                <a:t>way</a:t>
              </a:r>
              <a:r>
                <a:rPr lang="ko-KR" altLang="en-US" sz="1200" dirty="0"/>
                <a:t>,</a:t>
              </a:r>
            </a:p>
            <a:p>
              <a:r>
                <a:rPr lang="ko-KR" altLang="en-US" sz="1200" dirty="0" err="1">
                  <a:highlight>
                    <a:srgbClr val="FFFF00"/>
                  </a:highlight>
                </a:rPr>
                <a:t>Some</a:t>
              </a:r>
              <a:r>
                <a:rPr lang="ko-KR" altLang="en-US" sz="1200" dirty="0"/>
                <a:t> </a:t>
              </a:r>
              <a:r>
                <a:rPr lang="ko-KR" altLang="en-US" sz="1200" dirty="0" err="1"/>
                <a:t>call</a:t>
              </a:r>
              <a:r>
                <a:rPr lang="ko-KR" altLang="en-US" sz="1200" dirty="0"/>
                <a:t> </a:t>
              </a:r>
              <a:r>
                <a:rPr lang="ko-KR" altLang="en-US" sz="1200" dirty="0" err="1">
                  <a:highlight>
                    <a:srgbClr val="C0C0C0"/>
                  </a:highlight>
                </a:rPr>
                <a:t>the</a:t>
              </a:r>
              <a:r>
                <a:rPr lang="ko-KR" altLang="en-US" sz="1200" dirty="0">
                  <a:highlight>
                    <a:srgbClr val="C0C0C0"/>
                  </a:highlight>
                </a:rPr>
                <a:t> </a:t>
              </a:r>
              <a:r>
                <a:rPr lang="ko-KR" altLang="en-US" sz="1200" dirty="0" err="1">
                  <a:highlight>
                    <a:srgbClr val="C0C0C0"/>
                  </a:highlight>
                </a:rPr>
                <a:t>flame</a:t>
              </a:r>
              <a:r>
                <a:rPr lang="ko-KR" altLang="en-US" sz="1200" dirty="0">
                  <a:highlight>
                    <a:srgbClr val="C0C0C0"/>
                  </a:highlight>
                </a:rPr>
                <a:t> </a:t>
              </a:r>
              <a:r>
                <a:rPr lang="ko-KR" altLang="en-US" sz="1200" dirty="0" err="1">
                  <a:highlight>
                    <a:srgbClr val="C0C0C0"/>
                  </a:highlight>
                </a:rPr>
                <a:t>our</a:t>
              </a:r>
              <a:r>
                <a:rPr lang="ko-KR" altLang="en-US" sz="1200" dirty="0">
                  <a:highlight>
                    <a:srgbClr val="C0C0C0"/>
                  </a:highlight>
                </a:rPr>
                <a:t> </a:t>
              </a:r>
              <a:r>
                <a:rPr lang="ko-KR" altLang="en-US" sz="1200" dirty="0" err="1">
                  <a:highlight>
                    <a:srgbClr val="C0C0C0"/>
                  </a:highlight>
                </a:rPr>
                <a:t>history</a:t>
              </a:r>
              <a:r>
                <a:rPr lang="ko-KR" altLang="en-US" sz="1200" dirty="0"/>
                <a:t>,</a:t>
              </a:r>
            </a:p>
            <a:p>
              <a:r>
                <a:rPr lang="ko-KR" altLang="en-US" sz="1200" b="1" dirty="0" err="1">
                  <a:solidFill>
                    <a:srgbClr val="0070C0"/>
                  </a:solidFill>
                  <a:highlight>
                    <a:srgbClr val="FFFF00"/>
                  </a:highlight>
                </a:rPr>
                <a:t>Others</a:t>
              </a:r>
              <a:r>
                <a:rPr lang="ko-KR" altLang="en-US" sz="1200" dirty="0"/>
                <a:t> </a:t>
              </a:r>
              <a:r>
                <a:rPr lang="ko-KR" altLang="en-US" sz="1200" dirty="0" err="1"/>
                <a:t>name</a:t>
              </a:r>
              <a:r>
                <a:rPr lang="ko-KR" altLang="en-US" sz="1200" dirty="0"/>
                <a:t> </a:t>
              </a:r>
              <a:r>
                <a:rPr lang="ko-KR" altLang="en-US" sz="1200" dirty="0" err="1">
                  <a:highlight>
                    <a:srgbClr val="C0C0C0"/>
                  </a:highlight>
                </a:rPr>
                <a:t>the</a:t>
              </a:r>
              <a:r>
                <a:rPr lang="ko-KR" altLang="en-US" sz="1200" dirty="0">
                  <a:highlight>
                    <a:srgbClr val="C0C0C0"/>
                  </a:highlight>
                </a:rPr>
                <a:t> </a:t>
              </a:r>
              <a:r>
                <a:rPr lang="ko-KR" altLang="en-US" sz="1200" dirty="0" err="1">
                  <a:highlight>
                    <a:srgbClr val="C0C0C0"/>
                  </a:highlight>
                </a:rPr>
                <a:t>blossoms</a:t>
              </a:r>
              <a:r>
                <a:rPr lang="ko-KR" altLang="en-US" sz="1200" dirty="0">
                  <a:highlight>
                    <a:srgbClr val="C0C0C0"/>
                  </a:highlight>
                </a:rPr>
                <a:t> </a:t>
              </a:r>
              <a:r>
                <a:rPr lang="ko-KR" altLang="en-US" sz="1200" dirty="0" err="1"/>
                <a:t>so</a:t>
              </a:r>
              <a:r>
                <a:rPr lang="ko-KR" altLang="en-US" sz="1200" dirty="0"/>
                <a:t>,</a:t>
              </a:r>
            </a:p>
            <a:p>
              <a:r>
                <a:rPr lang="ko-KR" altLang="en-US" sz="1200" dirty="0" err="1">
                  <a:highlight>
                    <a:srgbClr val="FFFF00"/>
                  </a:highlight>
                </a:rPr>
                <a:t>But</a:t>
              </a:r>
              <a:r>
                <a:rPr lang="ko-KR" altLang="en-US" sz="1200" dirty="0">
                  <a:highlight>
                    <a:srgbClr val="FFFF00"/>
                  </a:highlight>
                </a:rPr>
                <a:t> </a:t>
              </a:r>
              <a:r>
                <a:rPr lang="ko-KR" altLang="en-US" sz="1200" dirty="0" err="1">
                  <a:highlight>
                    <a:srgbClr val="FFFF00"/>
                  </a:highlight>
                </a:rPr>
                <a:t>one</a:t>
              </a:r>
              <a:r>
                <a:rPr lang="ko-KR" altLang="en-US" sz="1200" dirty="0"/>
                <a:t> </a:t>
              </a:r>
              <a:r>
                <a:rPr lang="ko-KR" altLang="en-US" sz="1200" dirty="0" err="1"/>
                <a:t>journeys</a:t>
              </a:r>
              <a:r>
                <a:rPr lang="ko-KR" altLang="en-US" sz="1200" dirty="0"/>
                <a:t> </a:t>
              </a:r>
              <a:r>
                <a:rPr lang="ko-KR" altLang="en-US" sz="1200" dirty="0" err="1"/>
                <a:t>Aujeong's</a:t>
              </a:r>
              <a:r>
                <a:rPr lang="ko-KR" altLang="en-US" sz="1200" dirty="0"/>
                <a:t> </a:t>
              </a:r>
              <a:r>
                <a:rPr lang="ko-KR" altLang="en-US" sz="1200" dirty="0" err="1"/>
                <a:t>road</a:t>
              </a:r>
              <a:r>
                <a:rPr lang="ko-KR" altLang="en-US" sz="1200" dirty="0"/>
                <a:t>,</a:t>
              </a:r>
            </a:p>
            <a:p>
              <a:r>
                <a:rPr lang="ko-KR" altLang="en-US" sz="1200" b="1" dirty="0">
                  <a:solidFill>
                    <a:srgbClr val="0070C0"/>
                  </a:solidFill>
                  <a:highlight>
                    <a:srgbClr val="FFFF00"/>
                  </a:highlight>
                </a:rPr>
                <a:t>The </a:t>
              </a:r>
              <a:r>
                <a:rPr lang="ko-KR" altLang="en-US" sz="1200" b="1" dirty="0" err="1">
                  <a:solidFill>
                    <a:srgbClr val="0070C0"/>
                  </a:solidFill>
                  <a:highlight>
                    <a:srgbClr val="FFFF00"/>
                  </a:highlight>
                </a:rPr>
                <a:t>other</a:t>
              </a:r>
              <a:r>
                <a:rPr lang="ko-KR" altLang="en-US" sz="1200" b="1" dirty="0">
                  <a:solidFill>
                    <a:srgbClr val="0070C0"/>
                  </a:solidFill>
                  <a:highlight>
                    <a:srgbClr val="FFFF00"/>
                  </a:highlight>
                </a:rPr>
                <a:t> </a:t>
              </a:r>
              <a:r>
                <a:rPr lang="ko-KR" altLang="en-US" sz="1200" dirty="0" err="1"/>
                <a:t>follows</a:t>
              </a:r>
              <a:r>
                <a:rPr lang="ko-KR" altLang="en-US" sz="1200" dirty="0"/>
                <a:t> </a:t>
              </a:r>
              <a:r>
                <a:rPr lang="ko-KR" altLang="en-US" sz="1200" dirty="0" err="1"/>
                <a:t>Song</a:t>
              </a:r>
              <a:r>
                <a:rPr lang="ko-KR" altLang="en-US" sz="1200" dirty="0"/>
                <a:t> of </a:t>
              </a:r>
              <a:r>
                <a:rPr lang="ko-KR" altLang="en-US" sz="1200" dirty="0" err="1"/>
                <a:t>life</a:t>
              </a:r>
              <a:r>
                <a:rPr lang="ko-KR" altLang="en-US" sz="1200" dirty="0"/>
                <a:t>.</a:t>
              </a:r>
            </a:p>
            <a:p>
              <a:endParaRPr lang="ko-KR" altLang="en-US" sz="1200" dirty="0"/>
            </a:p>
            <a:p>
              <a:r>
                <a:rPr lang="ko-KR" altLang="en-US" sz="1200" dirty="0" err="1"/>
                <a:t>Ladies</a:t>
              </a:r>
              <a:r>
                <a:rPr lang="ko-KR" altLang="en-US" sz="1200" dirty="0"/>
                <a:t>, </a:t>
              </a:r>
              <a:r>
                <a:rPr lang="ko-KR" altLang="en-US" sz="1200" b="1" dirty="0" err="1">
                  <a:solidFill>
                    <a:srgbClr val="0070C0"/>
                  </a:solidFill>
                  <a:highlight>
                    <a:srgbClr val="A7D7FF"/>
                  </a:highlight>
                </a:rPr>
                <a:t>is</a:t>
              </a:r>
              <a:r>
                <a:rPr lang="ko-KR" altLang="en-US" sz="1200" b="1" dirty="0">
                  <a:solidFill>
                    <a:srgbClr val="0070C0"/>
                  </a:solidFill>
                  <a:highlight>
                    <a:srgbClr val="A7D7FF"/>
                  </a:highlight>
                </a:rPr>
                <a:t> </a:t>
              </a:r>
              <a:r>
                <a:rPr lang="ko-KR" altLang="en-US" sz="1200" b="1" dirty="0" err="1">
                  <a:solidFill>
                    <a:srgbClr val="0070C0"/>
                  </a:solidFill>
                  <a:highlight>
                    <a:srgbClr val="A7D7FF"/>
                  </a:highlight>
                </a:rPr>
                <a:t>life</a:t>
              </a:r>
              <a:r>
                <a:rPr lang="ko-KR" altLang="en-US" sz="1200" b="1" dirty="0">
                  <a:solidFill>
                    <a:srgbClr val="0070C0"/>
                  </a:solidFill>
                  <a:highlight>
                    <a:srgbClr val="A7D7FF"/>
                  </a:highlight>
                </a:rPr>
                <a:t> </a:t>
              </a:r>
              <a:r>
                <a:rPr lang="ko-KR" altLang="en-US" sz="1200" b="1" dirty="0" err="1">
                  <a:solidFill>
                    <a:srgbClr val="0070C0"/>
                  </a:solidFill>
                  <a:highlight>
                    <a:srgbClr val="A7D7FF"/>
                  </a:highlight>
                </a:rPr>
                <a:t>a</a:t>
              </a:r>
              <a:r>
                <a:rPr lang="ko-KR" altLang="en-US" sz="1200" b="1" dirty="0">
                  <a:solidFill>
                    <a:srgbClr val="0070C0"/>
                  </a:solidFill>
                  <a:highlight>
                    <a:srgbClr val="A7D7FF"/>
                  </a:highlight>
                </a:rPr>
                <a:t> </a:t>
              </a:r>
              <a:r>
                <a:rPr lang="ko-KR" altLang="en-US" sz="1200" b="1" dirty="0" err="1">
                  <a:solidFill>
                    <a:srgbClr val="0070C0"/>
                  </a:solidFill>
                  <a:highlight>
                    <a:srgbClr val="A7D7FF"/>
                  </a:highlight>
                </a:rPr>
                <a:t>flame</a:t>
              </a:r>
              <a:r>
                <a:rPr lang="ko-KR" altLang="en-US" sz="1200" b="1" dirty="0">
                  <a:solidFill>
                    <a:srgbClr val="0070C0"/>
                  </a:solidFill>
                  <a:highlight>
                    <a:srgbClr val="A7D7FF"/>
                  </a:highlight>
                </a:rPr>
                <a:t> </a:t>
              </a:r>
              <a:r>
                <a:rPr lang="ko-KR" altLang="en-US" sz="1200" b="1" dirty="0" err="1">
                  <a:solidFill>
                    <a:srgbClr val="0070C0"/>
                  </a:solidFill>
                  <a:highlight>
                    <a:srgbClr val="A7D7FF"/>
                  </a:highlight>
                </a:rPr>
                <a:t>or</a:t>
              </a:r>
              <a:r>
                <a:rPr lang="ko-KR" altLang="en-US" sz="1200" b="1" dirty="0">
                  <a:solidFill>
                    <a:srgbClr val="0070C0"/>
                  </a:solidFill>
                  <a:highlight>
                    <a:srgbClr val="A7D7FF"/>
                  </a:highlight>
                </a:rPr>
                <a:t> </a:t>
              </a:r>
              <a:r>
                <a:rPr lang="ko-KR" altLang="en-US" sz="1200" b="1" dirty="0" err="1">
                  <a:solidFill>
                    <a:srgbClr val="0070C0"/>
                  </a:solidFill>
                  <a:highlight>
                    <a:srgbClr val="A7D7FF"/>
                  </a:highlight>
                </a:rPr>
                <a:t>a</a:t>
              </a:r>
              <a:r>
                <a:rPr lang="ko-KR" altLang="en-US" sz="1200" b="1" dirty="0">
                  <a:solidFill>
                    <a:srgbClr val="0070C0"/>
                  </a:solidFill>
                  <a:highlight>
                    <a:srgbClr val="A7D7FF"/>
                  </a:highlight>
                </a:rPr>
                <a:t> </a:t>
              </a:r>
              <a:r>
                <a:rPr lang="ko-KR" altLang="en-US" sz="1200" b="1" dirty="0" err="1">
                  <a:solidFill>
                    <a:srgbClr val="0070C0"/>
                  </a:solidFill>
                  <a:highlight>
                    <a:srgbClr val="A7D7FF"/>
                  </a:highlight>
                </a:rPr>
                <a:t>flower</a:t>
              </a:r>
              <a:r>
                <a:rPr lang="ko-KR" altLang="en-US" sz="1200" b="1" dirty="0">
                  <a:solidFill>
                    <a:srgbClr val="0070C0"/>
                  </a:solidFill>
                  <a:highlight>
                    <a:srgbClr val="A7D7FF"/>
                  </a:highlight>
                </a:rPr>
                <a:t>?</a:t>
              </a:r>
            </a:p>
            <a:p>
              <a:r>
                <a:rPr lang="ko-KR" altLang="en-US" sz="1200" b="1" dirty="0" err="1">
                  <a:solidFill>
                    <a:srgbClr val="0070C0"/>
                  </a:solidFill>
                  <a:highlight>
                    <a:srgbClr val="A7D7FF"/>
                  </a:highlight>
                </a:rPr>
                <a:t>Is</a:t>
              </a:r>
              <a:r>
                <a:rPr lang="ko-KR" altLang="en-US" sz="1200" b="1" dirty="0">
                  <a:solidFill>
                    <a:srgbClr val="0070C0"/>
                  </a:solidFill>
                  <a:highlight>
                    <a:srgbClr val="A7D7FF"/>
                  </a:highlight>
                </a:rPr>
                <a:t> </a:t>
              </a:r>
              <a:r>
                <a:rPr lang="ko-KR" altLang="en-US" sz="1200" b="1" dirty="0" err="1">
                  <a:solidFill>
                    <a:srgbClr val="0070C0"/>
                  </a:solidFill>
                  <a:highlight>
                    <a:srgbClr val="A7D7FF"/>
                  </a:highlight>
                </a:rPr>
                <a:t>the</a:t>
              </a:r>
              <a:r>
                <a:rPr lang="ko-KR" altLang="en-US" sz="1200" b="1" dirty="0">
                  <a:solidFill>
                    <a:srgbClr val="0070C0"/>
                  </a:solidFill>
                  <a:highlight>
                    <a:srgbClr val="A7D7FF"/>
                  </a:highlight>
                </a:rPr>
                <a:t> </a:t>
              </a:r>
              <a:r>
                <a:rPr lang="ko-KR" altLang="en-US" sz="1200" b="1" dirty="0" err="1">
                  <a:solidFill>
                    <a:srgbClr val="0070C0"/>
                  </a:solidFill>
                  <a:highlight>
                    <a:srgbClr val="A7D7FF"/>
                  </a:highlight>
                </a:rPr>
                <a:t>path</a:t>
              </a:r>
              <a:r>
                <a:rPr lang="ko-KR" altLang="en-US" sz="1200" b="1" dirty="0">
                  <a:solidFill>
                    <a:srgbClr val="0070C0"/>
                  </a:solidFill>
                  <a:highlight>
                    <a:srgbClr val="A7D7FF"/>
                  </a:highlight>
                </a:rPr>
                <a:t> of </a:t>
              </a:r>
              <a:r>
                <a:rPr lang="ko-KR" altLang="en-US" sz="1200" b="1" dirty="0" err="1">
                  <a:solidFill>
                    <a:srgbClr val="0070C0"/>
                  </a:solidFill>
                  <a:highlight>
                    <a:srgbClr val="A7D7FF"/>
                  </a:highlight>
                </a:rPr>
                <a:t>love</a:t>
              </a:r>
              <a:r>
                <a:rPr lang="ko-KR" altLang="en-US" sz="1200" b="1" dirty="0">
                  <a:solidFill>
                    <a:srgbClr val="0070C0"/>
                  </a:solidFill>
                  <a:highlight>
                    <a:srgbClr val="A7D7FF"/>
                  </a:highlight>
                </a:rPr>
                <a:t> </a:t>
              </a:r>
              <a:r>
                <a:rPr lang="ko-KR" altLang="en-US" sz="1200" b="1" dirty="0" err="1">
                  <a:solidFill>
                    <a:srgbClr val="0070C0"/>
                  </a:solidFill>
                  <a:highlight>
                    <a:srgbClr val="A7D7FF"/>
                  </a:highlight>
                </a:rPr>
                <a:t>a</a:t>
              </a:r>
              <a:r>
                <a:rPr lang="ko-KR" altLang="en-US" sz="1200" b="1" dirty="0">
                  <a:solidFill>
                    <a:srgbClr val="0070C0"/>
                  </a:solidFill>
                  <a:highlight>
                    <a:srgbClr val="A7D7FF"/>
                  </a:highlight>
                </a:rPr>
                <a:t> </a:t>
              </a:r>
              <a:r>
                <a:rPr lang="ko-KR" altLang="en-US" sz="1200" b="1" dirty="0" err="1">
                  <a:solidFill>
                    <a:srgbClr val="0070C0"/>
                  </a:solidFill>
                  <a:highlight>
                    <a:srgbClr val="A7D7FF"/>
                  </a:highlight>
                </a:rPr>
                <a:t>flame</a:t>
              </a:r>
              <a:r>
                <a:rPr lang="ko-KR" altLang="en-US" sz="1200" b="1" dirty="0">
                  <a:solidFill>
                    <a:srgbClr val="0070C0"/>
                  </a:solidFill>
                  <a:highlight>
                    <a:srgbClr val="A7D7FF"/>
                  </a:highlight>
                </a:rPr>
                <a:t> </a:t>
              </a:r>
              <a:r>
                <a:rPr lang="ko-KR" altLang="en-US" sz="1200" b="1" dirty="0" err="1">
                  <a:solidFill>
                    <a:srgbClr val="0070C0"/>
                  </a:solidFill>
                  <a:highlight>
                    <a:srgbClr val="A7D7FF"/>
                  </a:highlight>
                </a:rPr>
                <a:t>or</a:t>
              </a:r>
              <a:r>
                <a:rPr lang="ko-KR" altLang="en-US" sz="1200" b="1" dirty="0">
                  <a:solidFill>
                    <a:srgbClr val="0070C0"/>
                  </a:solidFill>
                  <a:highlight>
                    <a:srgbClr val="A7D7FF"/>
                  </a:highlight>
                </a:rPr>
                <a:t> </a:t>
              </a:r>
              <a:r>
                <a:rPr lang="ko-KR" altLang="en-US" sz="1200" b="1" dirty="0" err="1">
                  <a:solidFill>
                    <a:srgbClr val="0070C0"/>
                  </a:solidFill>
                  <a:highlight>
                    <a:srgbClr val="A7D7FF"/>
                  </a:highlight>
                </a:rPr>
                <a:t>a</a:t>
              </a:r>
              <a:r>
                <a:rPr lang="ko-KR" altLang="en-US" sz="1200" b="1" dirty="0">
                  <a:solidFill>
                    <a:srgbClr val="0070C0"/>
                  </a:solidFill>
                  <a:highlight>
                    <a:srgbClr val="A7D7FF"/>
                  </a:highlight>
                </a:rPr>
                <a:t> </a:t>
              </a:r>
              <a:r>
                <a:rPr lang="ko-KR" altLang="en-US" sz="1200" b="1" dirty="0" err="1">
                  <a:solidFill>
                    <a:srgbClr val="0070C0"/>
                  </a:solidFill>
                  <a:highlight>
                    <a:srgbClr val="A7D7FF"/>
                  </a:highlight>
                </a:rPr>
                <a:t>flower</a:t>
              </a:r>
              <a:r>
                <a:rPr lang="ko-KR" altLang="en-US" sz="1200" b="1" dirty="0">
                  <a:solidFill>
                    <a:srgbClr val="0070C0"/>
                  </a:solidFill>
                  <a:highlight>
                    <a:srgbClr val="A7D7FF"/>
                  </a:highlight>
                </a:rPr>
                <a:t>?</a:t>
              </a:r>
            </a:p>
            <a:p>
              <a:r>
                <a:rPr lang="ko-KR" altLang="en-US" sz="1200" dirty="0"/>
                <a:t>The </a:t>
              </a:r>
              <a:r>
                <a:rPr lang="ko-KR" altLang="en-US" sz="1200" dirty="0" err="1"/>
                <a:t>flame</a:t>
              </a:r>
              <a:r>
                <a:rPr lang="ko-KR" altLang="en-US" sz="1200" dirty="0"/>
                <a:t> </a:t>
              </a:r>
              <a:r>
                <a:rPr lang="ko-KR" altLang="en-US" sz="1200" dirty="0" err="1"/>
                <a:t>illuminates</a:t>
              </a:r>
              <a:r>
                <a:rPr lang="ko-KR" altLang="en-US" sz="1200" dirty="0"/>
                <a:t> </a:t>
              </a:r>
              <a:r>
                <a:rPr lang="ko-KR" altLang="en-US" sz="1200" dirty="0" err="1"/>
                <a:t>the</a:t>
              </a:r>
              <a:r>
                <a:rPr lang="ko-KR" altLang="en-US" sz="1200" dirty="0"/>
                <a:t> </a:t>
              </a:r>
              <a:r>
                <a:rPr lang="ko-KR" altLang="en-US" sz="1200" dirty="0" err="1"/>
                <a:t>darkness</a:t>
              </a:r>
              <a:r>
                <a:rPr lang="ko-KR" altLang="en-US" sz="1200" dirty="0"/>
                <a:t> of </a:t>
              </a:r>
              <a:r>
                <a:rPr lang="ko-KR" altLang="en-US" sz="1200" dirty="0" err="1"/>
                <a:t>the</a:t>
              </a:r>
              <a:r>
                <a:rPr lang="ko-KR" altLang="en-US" sz="1200" dirty="0"/>
                <a:t> </a:t>
              </a:r>
              <a:r>
                <a:rPr lang="ko-KR" altLang="en-US" sz="1200" dirty="0" err="1"/>
                <a:t>night</a:t>
              </a:r>
              <a:r>
                <a:rPr lang="ko-KR" altLang="en-US" sz="1200" dirty="0"/>
                <a:t>,</a:t>
              </a:r>
            </a:p>
            <a:p>
              <a:r>
                <a:rPr lang="ko-KR" altLang="en-US" sz="1200" dirty="0" err="1"/>
                <a:t>But</a:t>
              </a:r>
              <a:r>
                <a:rPr lang="ko-KR" altLang="en-US" sz="1200" dirty="0">
                  <a:solidFill>
                    <a:srgbClr val="0070C0"/>
                  </a:solidFill>
                </a:rPr>
                <a:t> </a:t>
              </a:r>
              <a:r>
                <a:rPr lang="ko-KR" altLang="en-US" sz="1200" dirty="0" err="1"/>
                <a:t>the</a:t>
              </a:r>
              <a:r>
                <a:rPr lang="ko-KR" altLang="en-US" sz="1200" dirty="0"/>
                <a:t> </a:t>
              </a:r>
              <a:r>
                <a:rPr lang="ko-KR" altLang="en-US" sz="1200" dirty="0" err="1"/>
                <a:t>flower</a:t>
              </a:r>
              <a:r>
                <a:rPr lang="ko-KR" altLang="en-US" sz="1200" dirty="0"/>
                <a:t> </a:t>
              </a:r>
              <a:r>
                <a:rPr lang="ko-KR" altLang="en-US" sz="1200" dirty="0" err="1"/>
                <a:t>reveals</a:t>
              </a:r>
              <a:r>
                <a:rPr lang="ko-KR" altLang="en-US" sz="1200" dirty="0"/>
                <a:t> </a:t>
              </a:r>
              <a:r>
                <a:rPr lang="ko-KR" altLang="en-US" sz="1200" dirty="0" err="1"/>
                <a:t>the</a:t>
              </a:r>
              <a:r>
                <a:rPr lang="ko-KR" altLang="en-US" sz="1200" dirty="0"/>
                <a:t> </a:t>
              </a:r>
              <a:r>
                <a:rPr lang="ko-KR" altLang="en-US" sz="1200" dirty="0" err="1"/>
                <a:t>hidden</a:t>
              </a:r>
              <a:r>
                <a:rPr lang="ko-KR" altLang="en-US" sz="1200" dirty="0"/>
                <a:t> </a:t>
              </a:r>
              <a:r>
                <a:rPr lang="ko-KR" altLang="en-US" sz="1200" dirty="0" err="1"/>
                <a:t>depths</a:t>
              </a:r>
              <a:r>
                <a:rPr lang="ko-KR" altLang="en-US" sz="1200" dirty="0"/>
                <a:t> of </a:t>
              </a:r>
              <a:r>
                <a:rPr lang="ko-KR" altLang="en-US" sz="1200" dirty="0" err="1"/>
                <a:t>day</a:t>
              </a:r>
              <a:r>
                <a:rPr lang="ko-KR" altLang="en-US" sz="1200" dirty="0"/>
                <a:t>.</a:t>
              </a:r>
            </a:p>
            <a:p>
              <a:r>
                <a:rPr lang="ko-KR" altLang="en-US" sz="1200" dirty="0" err="1"/>
                <a:t>When</a:t>
              </a:r>
              <a:r>
                <a:rPr lang="ko-KR" altLang="en-US" sz="1200" dirty="0">
                  <a:solidFill>
                    <a:srgbClr val="0070C0"/>
                  </a:solidFill>
                </a:rPr>
                <a:t> </a:t>
              </a:r>
              <a:r>
                <a:rPr lang="ko-KR" altLang="en-US" sz="1200" dirty="0" err="1"/>
                <a:t>the</a:t>
              </a:r>
              <a:r>
                <a:rPr lang="ko-KR" altLang="en-US" sz="1200" dirty="0"/>
                <a:t> </a:t>
              </a:r>
              <a:r>
                <a:rPr lang="ko-KR" altLang="en-US" sz="1200" dirty="0" err="1"/>
                <a:t>flame</a:t>
              </a:r>
              <a:r>
                <a:rPr lang="ko-KR" altLang="en-US" sz="1200" dirty="0"/>
                <a:t> </a:t>
              </a:r>
              <a:r>
                <a:rPr lang="ko-KR" altLang="en-US" sz="1200" dirty="0" err="1"/>
                <a:t>melts</a:t>
              </a:r>
              <a:r>
                <a:rPr lang="ko-KR" altLang="en-US" sz="1200" dirty="0"/>
                <a:t> </a:t>
              </a:r>
              <a:r>
                <a:rPr lang="ko-KR" altLang="en-US" sz="1200" dirty="0" err="1"/>
                <a:t>the</a:t>
              </a:r>
              <a:r>
                <a:rPr lang="ko-KR" altLang="en-US" sz="1200" dirty="0"/>
                <a:t> </a:t>
              </a:r>
              <a:r>
                <a:rPr lang="ko-KR" altLang="en-US" sz="1200" dirty="0" err="1"/>
                <a:t>sword</a:t>
              </a:r>
              <a:r>
                <a:rPr lang="ko-KR" altLang="en-US" sz="1200" dirty="0"/>
                <a:t> </a:t>
              </a:r>
              <a:r>
                <a:rPr lang="ko-KR" altLang="en-US" sz="1200" dirty="0" err="1"/>
                <a:t>drenched</a:t>
              </a:r>
              <a:r>
                <a:rPr lang="ko-KR" altLang="en-US" sz="1200" dirty="0"/>
                <a:t> </a:t>
              </a:r>
              <a:r>
                <a:rPr lang="ko-KR" altLang="en-US" sz="1200" dirty="0" err="1"/>
                <a:t>in</a:t>
              </a:r>
              <a:r>
                <a:rPr lang="ko-KR" altLang="en-US" sz="1200" dirty="0"/>
                <a:t> </a:t>
              </a:r>
              <a:r>
                <a:rPr lang="ko-KR" altLang="en-US" sz="1200" dirty="0" err="1"/>
                <a:t>blood</a:t>
              </a:r>
              <a:r>
                <a:rPr lang="ko-KR" altLang="en-US" sz="1200" dirty="0"/>
                <a:t>,</a:t>
              </a:r>
            </a:p>
            <a:p>
              <a:r>
                <a:rPr lang="ko-KR" altLang="en-US" sz="1200" dirty="0"/>
                <a:t>The </a:t>
              </a:r>
              <a:r>
                <a:rPr lang="ko-KR" altLang="en-US" sz="1200" dirty="0" err="1"/>
                <a:t>flower</a:t>
              </a:r>
              <a:r>
                <a:rPr lang="ko-KR" altLang="en-US" sz="1200" dirty="0"/>
                <a:t> </a:t>
              </a:r>
              <a:r>
                <a:rPr lang="ko-KR" altLang="en-US" sz="1200" dirty="0" err="1"/>
                <a:t>cleanses</a:t>
              </a:r>
              <a:r>
                <a:rPr lang="ko-KR" altLang="en-US" sz="1200" dirty="0"/>
                <a:t> </a:t>
              </a:r>
              <a:r>
                <a:rPr lang="ko-KR" altLang="en-US" sz="1200" dirty="0" err="1"/>
                <a:t>the</a:t>
              </a:r>
              <a:r>
                <a:rPr lang="ko-KR" altLang="en-US" sz="1200" dirty="0"/>
                <a:t> </a:t>
              </a:r>
              <a:r>
                <a:rPr lang="ko-KR" altLang="en-US" sz="1200" dirty="0" err="1"/>
                <a:t>sword's</a:t>
              </a:r>
              <a:r>
                <a:rPr lang="ko-KR" altLang="en-US" sz="1200" dirty="0"/>
                <a:t> </a:t>
              </a:r>
              <a:r>
                <a:rPr lang="ko-KR" altLang="en-US" sz="1200" dirty="0" err="1"/>
                <a:t>stained</a:t>
              </a:r>
              <a:r>
                <a:rPr lang="ko-KR" altLang="en-US" sz="1200" dirty="0"/>
                <a:t> </a:t>
              </a:r>
              <a:r>
                <a:rPr lang="ko-KR" altLang="en-US" sz="1200" dirty="0" err="1"/>
                <a:t>blade</a:t>
              </a:r>
              <a:r>
                <a:rPr lang="ko-KR" altLang="en-US" sz="1200" dirty="0"/>
                <a:t>.</a:t>
              </a:r>
            </a:p>
            <a:p>
              <a:endParaRPr lang="ko-KR" altLang="en-US" sz="1200" dirty="0"/>
            </a:p>
            <a:p>
              <a:r>
                <a:rPr lang="ko-KR" altLang="en-US" sz="1200" dirty="0">
                  <a:highlight>
                    <a:srgbClr val="FFFF00"/>
                  </a:highlight>
                </a:rPr>
                <a:t>One </a:t>
              </a:r>
              <a:r>
                <a:rPr lang="ko-KR" altLang="en-US" sz="1200" dirty="0" err="1">
                  <a:highlight>
                    <a:srgbClr val="FFFF00"/>
                  </a:highlight>
                </a:rPr>
                <a:t>person</a:t>
              </a:r>
              <a:r>
                <a:rPr lang="ko-KR" altLang="en-US" sz="1200" dirty="0"/>
                <a:t> </a:t>
              </a:r>
              <a:r>
                <a:rPr lang="ko-KR" altLang="en-US" sz="1200" dirty="0" err="1"/>
                <a:t>walks</a:t>
              </a:r>
              <a:r>
                <a:rPr lang="ko-KR" altLang="en-US" sz="1200" dirty="0"/>
                <a:t> </a:t>
              </a:r>
              <a:r>
                <a:rPr lang="ko-KR" altLang="en-US" sz="1200" dirty="0" err="1"/>
                <a:t>the</a:t>
              </a:r>
              <a:r>
                <a:rPr lang="ko-KR" altLang="en-US" sz="1200" dirty="0"/>
                <a:t> </a:t>
              </a:r>
              <a:r>
                <a:rPr lang="ko-KR" altLang="en-US" sz="1200" dirty="0" err="1"/>
                <a:t>path</a:t>
              </a:r>
              <a:r>
                <a:rPr lang="ko-KR" altLang="en-US" sz="1200" dirty="0"/>
                <a:t> of </a:t>
              </a:r>
              <a:r>
                <a:rPr lang="ko-KR" altLang="en-US" sz="1200" dirty="0" err="1"/>
                <a:t>suffering</a:t>
              </a:r>
              <a:r>
                <a:rPr lang="ko-KR" altLang="en-US" sz="1200" dirty="0"/>
                <a:t>,</a:t>
              </a:r>
            </a:p>
            <a:p>
              <a:r>
                <a:rPr lang="ko-KR" altLang="en-US" sz="1200" b="1" dirty="0" err="1">
                  <a:solidFill>
                    <a:srgbClr val="0070C0"/>
                  </a:solidFill>
                  <a:highlight>
                    <a:srgbClr val="FFFF00"/>
                  </a:highlight>
                </a:rPr>
                <a:t>Another</a:t>
              </a:r>
              <a:r>
                <a:rPr lang="ko-KR" altLang="en-US" sz="1200" dirty="0"/>
                <a:t>, </a:t>
              </a:r>
              <a:r>
                <a:rPr lang="ko-KR" altLang="en-US" sz="1200" dirty="0" err="1"/>
                <a:t>the</a:t>
              </a:r>
              <a:r>
                <a:rPr lang="ko-KR" altLang="en-US" sz="1200" dirty="0"/>
                <a:t> </a:t>
              </a:r>
              <a:r>
                <a:rPr lang="ko-KR" altLang="en-US" sz="1200" dirty="0" err="1"/>
                <a:t>road</a:t>
              </a:r>
              <a:r>
                <a:rPr lang="ko-KR" altLang="en-US" sz="1200" dirty="0"/>
                <a:t> of </a:t>
              </a:r>
              <a:r>
                <a:rPr lang="ko-KR" altLang="en-US" sz="1200" dirty="0" err="1"/>
                <a:t>flowers</a:t>
              </a:r>
              <a:r>
                <a:rPr lang="ko-KR" altLang="en-US" sz="1200" dirty="0"/>
                <a:t> </a:t>
              </a:r>
              <a:r>
                <a:rPr lang="ko-KR" altLang="en-US" sz="1200" dirty="0" err="1"/>
                <a:t>in</a:t>
              </a:r>
              <a:r>
                <a:rPr lang="ko-KR" altLang="en-US" sz="1200" dirty="0"/>
                <a:t> </a:t>
              </a:r>
              <a:r>
                <a:rPr lang="ko-KR" altLang="en-US" sz="1200" dirty="0" err="1"/>
                <a:t>bloom</a:t>
              </a:r>
              <a:r>
                <a:rPr lang="ko-KR" altLang="en-US" sz="1200" dirty="0"/>
                <a:t>,</a:t>
              </a:r>
            </a:p>
            <a:p>
              <a:r>
                <a:rPr lang="ko-KR" altLang="en-US" sz="1200" dirty="0">
                  <a:highlight>
                    <a:srgbClr val="FFFF00"/>
                  </a:highlight>
                </a:rPr>
                <a:t>One</a:t>
              </a:r>
              <a:r>
                <a:rPr lang="ko-KR" altLang="en-US" sz="1200" dirty="0"/>
                <a:t> </a:t>
              </a:r>
              <a:r>
                <a:rPr lang="ko-KR" altLang="en-US" sz="1200" dirty="0" err="1"/>
                <a:t>follows</a:t>
              </a:r>
              <a:r>
                <a:rPr lang="ko-KR" altLang="en-US" sz="1200" dirty="0"/>
                <a:t> </a:t>
              </a:r>
              <a:r>
                <a:rPr lang="ko-KR" altLang="en-US" sz="1200" dirty="0" err="1"/>
                <a:t>the</a:t>
              </a:r>
              <a:r>
                <a:rPr lang="ko-KR" altLang="en-US" sz="1200" dirty="0"/>
                <a:t> </a:t>
              </a:r>
              <a:r>
                <a:rPr lang="ko-KR" altLang="en-US" sz="1200" dirty="0" err="1"/>
                <a:t>way</a:t>
              </a:r>
              <a:r>
                <a:rPr lang="ko-KR" altLang="en-US" sz="1200" dirty="0"/>
                <a:t> of </a:t>
              </a:r>
              <a:r>
                <a:rPr lang="ko-KR" altLang="en-US" sz="1200" dirty="0" err="1"/>
                <a:t>fame</a:t>
              </a:r>
              <a:r>
                <a:rPr lang="ko-KR" altLang="en-US" sz="1200" dirty="0"/>
                <a:t> and </a:t>
              </a:r>
              <a:r>
                <a:rPr lang="ko-KR" altLang="en-US" sz="1200" dirty="0" err="1"/>
                <a:t>fortune</a:t>
              </a:r>
              <a:r>
                <a:rPr lang="ko-KR" altLang="en-US" sz="1200" dirty="0"/>
                <a:t>,</a:t>
              </a:r>
            </a:p>
            <a:p>
              <a:r>
                <a:rPr lang="ko-KR" altLang="en-US" sz="1200" b="1" dirty="0" err="1">
                  <a:solidFill>
                    <a:srgbClr val="0070C0"/>
                  </a:solidFill>
                  <a:highlight>
                    <a:srgbClr val="FFFF00"/>
                  </a:highlight>
                </a:rPr>
                <a:t>Another</a:t>
              </a:r>
              <a:r>
                <a:rPr lang="ko-KR" altLang="en-US" sz="1200" dirty="0"/>
                <a:t>, </a:t>
              </a:r>
              <a:r>
                <a:rPr lang="ko-KR" altLang="en-US" sz="1200" dirty="0" err="1"/>
                <a:t>the</a:t>
              </a:r>
              <a:r>
                <a:rPr lang="ko-KR" altLang="en-US" sz="1200" dirty="0"/>
                <a:t> </a:t>
              </a:r>
              <a:r>
                <a:rPr lang="ko-KR" altLang="en-US" sz="1200" dirty="0" err="1"/>
                <a:t>path</a:t>
              </a:r>
              <a:r>
                <a:rPr lang="ko-KR" altLang="en-US" sz="1200" dirty="0"/>
                <a:t> of </a:t>
              </a:r>
              <a:r>
                <a:rPr lang="ko-KR" altLang="en-US" sz="1200" dirty="0" err="1"/>
                <a:t>melody</a:t>
              </a:r>
              <a:r>
                <a:rPr lang="ko-KR" altLang="en-US" sz="1200" dirty="0"/>
                <a:t> and </a:t>
              </a:r>
              <a:r>
                <a:rPr lang="ko-KR" altLang="en-US" sz="1200" dirty="0" err="1"/>
                <a:t>song</a:t>
              </a:r>
              <a:r>
                <a:rPr lang="ko-KR" altLang="en-US" sz="1200" dirty="0"/>
                <a:t>,</a:t>
              </a:r>
            </a:p>
            <a:p>
              <a:r>
                <a:rPr lang="ko-KR" altLang="en-US" sz="1200" dirty="0" err="1">
                  <a:highlight>
                    <a:srgbClr val="FFFF00"/>
                  </a:highlight>
                </a:rPr>
                <a:t>Some</a:t>
              </a:r>
              <a:r>
                <a:rPr lang="ko-KR" altLang="en-US" sz="1200" dirty="0">
                  <a:highlight>
                    <a:srgbClr val="FFFF00"/>
                  </a:highlight>
                </a:rPr>
                <a:t> </a:t>
              </a:r>
              <a:r>
                <a:rPr lang="ko-KR" altLang="en-US" sz="1200" dirty="0" err="1"/>
                <a:t>traverse</a:t>
              </a:r>
              <a:r>
                <a:rPr lang="ko-KR" altLang="en-US" sz="1200" dirty="0"/>
                <a:t> </a:t>
              </a:r>
              <a:r>
                <a:rPr lang="ko-KR" altLang="en-US" sz="1200" dirty="0" err="1"/>
                <a:t>both</a:t>
              </a:r>
              <a:r>
                <a:rPr lang="ko-KR" altLang="en-US" sz="1200" dirty="0"/>
                <a:t> </a:t>
              </a:r>
              <a:r>
                <a:rPr lang="ko-KR" altLang="en-US" sz="1200" dirty="0" err="1"/>
                <a:t>paths</a:t>
              </a:r>
              <a:r>
                <a:rPr lang="ko-KR" altLang="en-US" sz="1200" dirty="0"/>
                <a:t> of </a:t>
              </a:r>
              <a:r>
                <a:rPr lang="ko-KR" altLang="en-US" sz="1200" dirty="0" err="1"/>
                <a:t>flame</a:t>
              </a:r>
              <a:r>
                <a:rPr lang="ko-KR" altLang="en-US" sz="1200" dirty="0"/>
                <a:t> and </a:t>
              </a:r>
              <a:r>
                <a:rPr lang="ko-KR" altLang="en-US" sz="1200" dirty="0" err="1"/>
                <a:t>blossoms</a:t>
              </a:r>
              <a:r>
                <a:rPr lang="ko-KR" altLang="en-US" sz="1200" dirty="0"/>
                <a:t>,</a:t>
              </a:r>
            </a:p>
            <a:p>
              <a:r>
                <a:rPr lang="ko-KR" altLang="en-US" sz="1200" dirty="0" err="1"/>
                <a:t>Interchanged</a:t>
              </a:r>
              <a:r>
                <a:rPr lang="ko-KR" altLang="en-US" sz="1200" dirty="0"/>
                <a:t>.</a:t>
              </a:r>
            </a:p>
          </p:txBody>
        </p:sp>
      </p:grpSp>
      <p:sp>
        <p:nvSpPr>
          <p:cNvPr id="22" name="Fußzeilenplatzhalter 4">
            <a:extLst>
              <a:ext uri="{FF2B5EF4-FFF2-40B4-BE49-F238E27FC236}">
                <a16:creationId xmlns:a16="http://schemas.microsoft.com/office/drawing/2014/main" id="{429BD009-590C-E913-4C1C-D24AA1CCC1AA}"/>
              </a:ext>
            </a:extLst>
          </p:cNvPr>
          <p:cNvSpPr>
            <a:spLocks noGrp="1"/>
          </p:cNvSpPr>
          <p:nvPr>
            <p:ph type="ftr" sz="quarter" idx="11"/>
          </p:nvPr>
        </p:nvSpPr>
        <p:spPr>
          <a:xfrm>
            <a:off x="1378800" y="6062400"/>
            <a:ext cx="6623787" cy="110594"/>
          </a:xfrm>
        </p:spPr>
        <p:txBody>
          <a:bodyPr/>
          <a:lstStyle/>
          <a:p>
            <a:r>
              <a:rPr lang="en-US" altLang="ko-KR" sz="1200" i="0" dirty="0">
                <a:effectLst/>
                <a:highlight>
                  <a:srgbClr val="FFFFFF"/>
                </a:highlight>
                <a:latin typeface="Söhne"/>
              </a:rPr>
              <a:t>Evaluating the Effectiveness of Large Language Models in Translating Korean Poetry into English</a:t>
            </a:r>
            <a:endParaRPr lang="de-DE" dirty="0"/>
          </a:p>
        </p:txBody>
      </p:sp>
    </p:spTree>
    <p:extLst>
      <p:ext uri="{BB962C8B-B14F-4D97-AF65-F5344CB8AC3E}">
        <p14:creationId xmlns:p14="http://schemas.microsoft.com/office/powerpoint/2010/main" val="1455655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r>
              <a:rPr lang="de-DE" dirty="0"/>
              <a:t>29.04.2024</a:t>
            </a:r>
          </a:p>
        </p:txBody>
      </p:sp>
      <p:sp>
        <p:nvSpPr>
          <p:cNvPr id="6" name="Foliennummernplatzhalter 5"/>
          <p:cNvSpPr>
            <a:spLocks noGrp="1"/>
          </p:cNvSpPr>
          <p:nvPr>
            <p:ph type="sldNum" sz="quarter" idx="12"/>
          </p:nvPr>
        </p:nvSpPr>
        <p:spPr/>
        <p:txBody>
          <a:bodyPr/>
          <a:lstStyle/>
          <a:p>
            <a:fld id="{FC0CC166-4E39-43B8-AB91-BDD1C4C9E224}" type="slidenum">
              <a:rPr lang="de-DE" smtClean="0"/>
              <a:t>10</a:t>
            </a:fld>
            <a:endParaRPr lang="de-DE"/>
          </a:p>
        </p:txBody>
      </p:sp>
      <p:sp>
        <p:nvSpPr>
          <p:cNvPr id="2" name="Fußzeilenplatzhalter 4">
            <a:extLst>
              <a:ext uri="{FF2B5EF4-FFF2-40B4-BE49-F238E27FC236}">
                <a16:creationId xmlns:a16="http://schemas.microsoft.com/office/drawing/2014/main" id="{8BE83C3E-7162-E146-009D-6753AEB571F7}"/>
              </a:ext>
            </a:extLst>
          </p:cNvPr>
          <p:cNvSpPr>
            <a:spLocks noGrp="1"/>
          </p:cNvSpPr>
          <p:nvPr>
            <p:ph type="ftr" sz="quarter" idx="11"/>
          </p:nvPr>
        </p:nvSpPr>
        <p:spPr>
          <a:xfrm>
            <a:off x="1378800" y="6062400"/>
            <a:ext cx="6623787" cy="110594"/>
          </a:xfrm>
        </p:spPr>
        <p:txBody>
          <a:bodyPr/>
          <a:lstStyle/>
          <a:p>
            <a:r>
              <a:rPr lang="en-US" altLang="ko-KR" sz="1200" i="0" dirty="0">
                <a:effectLst/>
                <a:highlight>
                  <a:srgbClr val="FFFFFF"/>
                </a:highlight>
                <a:latin typeface="Söhne"/>
              </a:rPr>
              <a:t>Evaluating the Effectiveness of Large Language Models in Translating Korean Poetry into English</a:t>
            </a:r>
            <a:endParaRPr lang="de-DE" dirty="0"/>
          </a:p>
        </p:txBody>
      </p:sp>
      <p:sp>
        <p:nvSpPr>
          <p:cNvPr id="12" name="제목 11">
            <a:extLst>
              <a:ext uri="{FF2B5EF4-FFF2-40B4-BE49-F238E27FC236}">
                <a16:creationId xmlns:a16="http://schemas.microsoft.com/office/drawing/2014/main" id="{AFDAD5AF-67BD-1C93-1E01-AA22F53715E3}"/>
              </a:ext>
            </a:extLst>
          </p:cNvPr>
          <p:cNvSpPr>
            <a:spLocks noGrp="1"/>
          </p:cNvSpPr>
          <p:nvPr>
            <p:ph type="title"/>
          </p:nvPr>
        </p:nvSpPr>
        <p:spPr/>
        <p:txBody>
          <a:bodyPr/>
          <a:lstStyle/>
          <a:p>
            <a:r>
              <a:rPr lang="en-US" altLang="ko-KR" dirty="0"/>
              <a:t> </a:t>
            </a:r>
            <a:endParaRPr lang="ko-KR" altLang="en-US" dirty="0"/>
          </a:p>
        </p:txBody>
      </p:sp>
      <p:sp>
        <p:nvSpPr>
          <p:cNvPr id="13" name="Titel 6">
            <a:extLst>
              <a:ext uri="{FF2B5EF4-FFF2-40B4-BE49-F238E27FC236}">
                <a16:creationId xmlns:a16="http://schemas.microsoft.com/office/drawing/2014/main" id="{0EBBA18C-AF40-6898-8B8B-4A45C7C663A7}"/>
              </a:ext>
            </a:extLst>
          </p:cNvPr>
          <p:cNvSpPr txBox="1">
            <a:spLocks/>
          </p:cNvSpPr>
          <p:nvPr/>
        </p:nvSpPr>
        <p:spPr>
          <a:xfrm>
            <a:off x="1378800" y="610394"/>
            <a:ext cx="6457681" cy="1248289"/>
          </a:xfrm>
          <a:prstGeom prst="rect">
            <a:avLst/>
          </a:prstGeom>
        </p:spPr>
        <p:txBody>
          <a:bodyPr vert="horz" lIns="0" tIns="0" rIns="0" bIns="0" rtlCol="0" anchor="t">
            <a:noAutofit/>
          </a:bodyPr>
          <a:lstStyle>
            <a:lvl1pPr algn="l" defTabSz="914305" rtl="0" eaLnBrk="1" latinLnBrk="1" hangingPunct="1">
              <a:spcBef>
                <a:spcPct val="0"/>
              </a:spcBef>
              <a:buNone/>
              <a:defRPr sz="3000" b="1" kern="1200" baseline="0">
                <a:solidFill>
                  <a:srgbClr val="003056"/>
                </a:solidFill>
                <a:latin typeface="+mj-lt"/>
                <a:ea typeface="+mj-ea"/>
                <a:cs typeface="+mj-cs"/>
              </a:defRPr>
            </a:lvl1pPr>
          </a:lstStyle>
          <a:p>
            <a:r>
              <a:rPr lang="de-DE" dirty="0"/>
              <a:t>Result</a:t>
            </a:r>
          </a:p>
        </p:txBody>
      </p:sp>
      <p:graphicFrame>
        <p:nvGraphicFramePr>
          <p:cNvPr id="8" name="차트 7">
            <a:extLst>
              <a:ext uri="{FF2B5EF4-FFF2-40B4-BE49-F238E27FC236}">
                <a16:creationId xmlns:a16="http://schemas.microsoft.com/office/drawing/2014/main" id="{2AB1D59F-D657-969A-A1FE-2854CF69EE33}"/>
              </a:ext>
            </a:extLst>
          </p:cNvPr>
          <p:cNvGraphicFramePr>
            <a:graphicFrameLocks/>
          </p:cNvGraphicFramePr>
          <p:nvPr>
            <p:extLst>
              <p:ext uri="{D42A27DB-BD31-4B8C-83A1-F6EECF244321}">
                <p14:modId xmlns:p14="http://schemas.microsoft.com/office/powerpoint/2010/main" val="281097688"/>
              </p:ext>
            </p:extLst>
          </p:nvPr>
        </p:nvGraphicFramePr>
        <p:xfrm>
          <a:off x="2040638" y="1486732"/>
          <a:ext cx="8113897" cy="396294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003322480"/>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de-DE" dirty="0"/>
              <a:t>Conclusion </a:t>
            </a:r>
          </a:p>
        </p:txBody>
      </p:sp>
      <p:sp>
        <p:nvSpPr>
          <p:cNvPr id="4" name="Datumsplatzhalter 3"/>
          <p:cNvSpPr>
            <a:spLocks noGrp="1"/>
          </p:cNvSpPr>
          <p:nvPr>
            <p:ph type="dt" sz="half" idx="10"/>
          </p:nvPr>
        </p:nvSpPr>
        <p:spPr/>
        <p:txBody>
          <a:bodyPr/>
          <a:lstStyle/>
          <a:p>
            <a:r>
              <a:rPr lang="de-DE" dirty="0"/>
              <a:t>29.04.2024</a:t>
            </a:r>
          </a:p>
        </p:txBody>
      </p:sp>
      <p:sp>
        <p:nvSpPr>
          <p:cNvPr id="6" name="Foliennummernplatzhalter 5"/>
          <p:cNvSpPr>
            <a:spLocks noGrp="1"/>
          </p:cNvSpPr>
          <p:nvPr>
            <p:ph type="sldNum" sz="quarter" idx="12"/>
          </p:nvPr>
        </p:nvSpPr>
        <p:spPr/>
        <p:txBody>
          <a:bodyPr/>
          <a:lstStyle/>
          <a:p>
            <a:fld id="{FC0CC166-4E39-43B8-AB91-BDD1C4C9E224}" type="slidenum">
              <a:rPr lang="de-DE" smtClean="0"/>
              <a:t>11</a:t>
            </a:fld>
            <a:endParaRPr lang="de-DE"/>
          </a:p>
        </p:txBody>
      </p:sp>
      <p:sp>
        <p:nvSpPr>
          <p:cNvPr id="2" name="Fußzeilenplatzhalter 4">
            <a:extLst>
              <a:ext uri="{FF2B5EF4-FFF2-40B4-BE49-F238E27FC236}">
                <a16:creationId xmlns:a16="http://schemas.microsoft.com/office/drawing/2014/main" id="{4B1CCF8E-F024-DF7E-B6CB-01E8D242D768}"/>
              </a:ext>
            </a:extLst>
          </p:cNvPr>
          <p:cNvSpPr>
            <a:spLocks noGrp="1"/>
          </p:cNvSpPr>
          <p:nvPr>
            <p:ph type="ftr" sz="quarter" idx="11"/>
          </p:nvPr>
        </p:nvSpPr>
        <p:spPr>
          <a:xfrm>
            <a:off x="1378800" y="6062400"/>
            <a:ext cx="6623787" cy="110594"/>
          </a:xfrm>
        </p:spPr>
        <p:txBody>
          <a:bodyPr/>
          <a:lstStyle/>
          <a:p>
            <a:r>
              <a:rPr lang="en-US" altLang="ko-KR" sz="1200" i="0" dirty="0">
                <a:effectLst/>
                <a:highlight>
                  <a:srgbClr val="FFFFFF"/>
                </a:highlight>
                <a:latin typeface="Söhne"/>
              </a:rPr>
              <a:t>Evaluating the Effectiveness of Large Language Models in Translating Korean Poetry into English</a:t>
            </a:r>
            <a:endParaRPr lang="de-DE" dirty="0"/>
          </a:p>
        </p:txBody>
      </p:sp>
      <p:sp>
        <p:nvSpPr>
          <p:cNvPr id="5" name="내용 개체 틀 4">
            <a:extLst>
              <a:ext uri="{FF2B5EF4-FFF2-40B4-BE49-F238E27FC236}">
                <a16:creationId xmlns:a16="http://schemas.microsoft.com/office/drawing/2014/main" id="{E1891342-D564-CC00-4F1D-C19D529C4B27}"/>
              </a:ext>
            </a:extLst>
          </p:cNvPr>
          <p:cNvSpPr>
            <a:spLocks noGrp="1"/>
          </p:cNvSpPr>
          <p:nvPr>
            <p:ph idx="1"/>
          </p:nvPr>
        </p:nvSpPr>
        <p:spPr/>
        <p:txBody>
          <a:bodyPr/>
          <a:lstStyle/>
          <a:p>
            <a:r>
              <a:rPr lang="en-US" altLang="ko-KR" dirty="0">
                <a:highlight>
                  <a:srgbClr val="FFFFFF"/>
                </a:highlight>
                <a:latin typeface="Söhne"/>
              </a:rPr>
              <a:t>P</a:t>
            </a:r>
            <a:r>
              <a:rPr lang="en-US" altLang="ko-KR" b="0" i="0" dirty="0">
                <a:effectLst/>
                <a:highlight>
                  <a:srgbClr val="FFFFFF"/>
                </a:highlight>
                <a:latin typeface="Söhne"/>
              </a:rPr>
              <a:t>aragraphs generally produced higher-quality translations than the sentence-level method.</a:t>
            </a:r>
          </a:p>
          <a:p>
            <a:pPr lvl="1"/>
            <a:r>
              <a:rPr lang="en-US" altLang="ko-KR" dirty="0"/>
              <a:t>Enhanced Contextual understanding</a:t>
            </a:r>
          </a:p>
          <a:p>
            <a:pPr lvl="1"/>
            <a:r>
              <a:rPr lang="en-US" altLang="ko-KR" dirty="0"/>
              <a:t>Improved Translation Coherence</a:t>
            </a:r>
          </a:p>
          <a:p>
            <a:r>
              <a:rPr lang="en-US" altLang="ko-KR" b="0" i="0" dirty="0">
                <a:effectLst/>
                <a:highlight>
                  <a:srgbClr val="FFFFFF"/>
                </a:highlight>
                <a:latin typeface="Söhne"/>
              </a:rPr>
              <a:t>Not fully capture the author's original voice, which could significantly alter the reader's experience of the literary work. </a:t>
            </a:r>
          </a:p>
          <a:p>
            <a:pPr lvl="1"/>
            <a:r>
              <a:rPr lang="en-US" altLang="ko-KR" dirty="0">
                <a:highlight>
                  <a:srgbClr val="FFFFFF"/>
                </a:highlight>
                <a:latin typeface="Söhne"/>
              </a:rPr>
              <a:t>T</a:t>
            </a:r>
            <a:r>
              <a:rPr lang="en-US" altLang="ko-KR" b="0" i="0" dirty="0">
                <a:effectLst/>
                <a:highlight>
                  <a:srgbClr val="FFFFFF"/>
                </a:highlight>
                <a:latin typeface="Söhne"/>
              </a:rPr>
              <a:t>he necessity for human oversight. </a:t>
            </a:r>
          </a:p>
          <a:p>
            <a:pPr lvl="2"/>
            <a:r>
              <a:rPr lang="en-US" altLang="ko-KR" b="0" i="0" dirty="0">
                <a:effectLst/>
                <a:highlight>
                  <a:srgbClr val="FFFFFF"/>
                </a:highlight>
                <a:latin typeface="Söhne"/>
              </a:rPr>
              <a:t>Not yet capable of replacing human translators in tasks requiring deep understanding of cultural nuances and stylistic depth</a:t>
            </a:r>
          </a:p>
          <a:p>
            <a:endParaRPr lang="ko-KR" altLang="en-US" dirty="0"/>
          </a:p>
        </p:txBody>
      </p:sp>
    </p:spTree>
    <p:extLst>
      <p:ext uri="{BB962C8B-B14F-4D97-AF65-F5344CB8AC3E}">
        <p14:creationId xmlns:p14="http://schemas.microsoft.com/office/powerpoint/2010/main" val="825112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75EAFDD-3341-2AF7-DF77-93A467051713}"/>
              </a:ext>
            </a:extLst>
          </p:cNvPr>
          <p:cNvSpPr>
            <a:spLocks noGrp="1"/>
          </p:cNvSpPr>
          <p:nvPr>
            <p:ph type="title"/>
          </p:nvPr>
        </p:nvSpPr>
        <p:spPr/>
        <p:txBody>
          <a:bodyPr/>
          <a:lstStyle/>
          <a:p>
            <a:r>
              <a:rPr lang="en-US" altLang="ko-KR" dirty="0"/>
              <a:t>Limitation</a:t>
            </a:r>
            <a:endParaRPr lang="ko-KR" altLang="en-US" dirty="0"/>
          </a:p>
        </p:txBody>
      </p:sp>
      <p:sp>
        <p:nvSpPr>
          <p:cNvPr id="3" name="내용 개체 틀 2">
            <a:extLst>
              <a:ext uri="{FF2B5EF4-FFF2-40B4-BE49-F238E27FC236}">
                <a16:creationId xmlns:a16="http://schemas.microsoft.com/office/drawing/2014/main" id="{0D237691-F157-F6A4-088A-3958E7863D8F}"/>
              </a:ext>
            </a:extLst>
          </p:cNvPr>
          <p:cNvSpPr>
            <a:spLocks noGrp="1"/>
          </p:cNvSpPr>
          <p:nvPr>
            <p:ph idx="1"/>
          </p:nvPr>
        </p:nvSpPr>
        <p:spPr/>
        <p:txBody>
          <a:bodyPr/>
          <a:lstStyle/>
          <a:p>
            <a:r>
              <a:rPr lang="en-US" altLang="ko-KR" dirty="0"/>
              <a:t>Model should be improved</a:t>
            </a:r>
          </a:p>
          <a:p>
            <a:pPr lvl="1"/>
            <a:r>
              <a:rPr lang="en-US" altLang="ko-KR" dirty="0"/>
              <a:t>There are still many issues with stanza’s translation.</a:t>
            </a:r>
          </a:p>
          <a:p>
            <a:pPr lvl="2"/>
            <a:r>
              <a:rPr lang="en-US" altLang="ko-KR" dirty="0"/>
              <a:t>we can observe that occasional omissions of content from the paragraph-level translation  than line.</a:t>
            </a:r>
          </a:p>
          <a:p>
            <a:r>
              <a:rPr lang="en-US" altLang="ko-KR" dirty="0"/>
              <a:t>Take a lot of time in Human evaluation and Refinement.</a:t>
            </a:r>
          </a:p>
        </p:txBody>
      </p:sp>
      <p:sp>
        <p:nvSpPr>
          <p:cNvPr id="4" name="날짜 개체 틀 3">
            <a:extLst>
              <a:ext uri="{FF2B5EF4-FFF2-40B4-BE49-F238E27FC236}">
                <a16:creationId xmlns:a16="http://schemas.microsoft.com/office/drawing/2014/main" id="{3F3CAC4A-A03B-B06C-7747-458A116E4A89}"/>
              </a:ext>
            </a:extLst>
          </p:cNvPr>
          <p:cNvSpPr>
            <a:spLocks noGrp="1"/>
          </p:cNvSpPr>
          <p:nvPr>
            <p:ph type="dt" sz="half" idx="10"/>
          </p:nvPr>
        </p:nvSpPr>
        <p:spPr/>
        <p:txBody>
          <a:bodyPr/>
          <a:lstStyle/>
          <a:p>
            <a:r>
              <a:rPr lang="de-DE"/>
              <a:t>TT.MM.JJJJ</a:t>
            </a:r>
          </a:p>
        </p:txBody>
      </p:sp>
      <p:sp>
        <p:nvSpPr>
          <p:cNvPr id="5" name="바닥글 개체 틀 4">
            <a:extLst>
              <a:ext uri="{FF2B5EF4-FFF2-40B4-BE49-F238E27FC236}">
                <a16:creationId xmlns:a16="http://schemas.microsoft.com/office/drawing/2014/main" id="{4451243B-04A1-06D8-78CB-1B8CFDAA5746}"/>
              </a:ext>
            </a:extLst>
          </p:cNvPr>
          <p:cNvSpPr>
            <a:spLocks noGrp="1"/>
          </p:cNvSpPr>
          <p:nvPr>
            <p:ph type="ftr" sz="quarter" idx="11"/>
          </p:nvPr>
        </p:nvSpPr>
        <p:spPr/>
        <p:txBody>
          <a:bodyPr/>
          <a:lstStyle/>
          <a:p>
            <a:r>
              <a:rPr lang="de-DE"/>
              <a:t>Beispiel-Fußzeile</a:t>
            </a:r>
            <a:endParaRPr lang="de-DE" dirty="0"/>
          </a:p>
        </p:txBody>
      </p:sp>
      <p:sp>
        <p:nvSpPr>
          <p:cNvPr id="6" name="슬라이드 번호 개체 틀 5">
            <a:extLst>
              <a:ext uri="{FF2B5EF4-FFF2-40B4-BE49-F238E27FC236}">
                <a16:creationId xmlns:a16="http://schemas.microsoft.com/office/drawing/2014/main" id="{8BACBB5F-FBDA-833F-B5F0-3D5F78F3EA9B}"/>
              </a:ext>
            </a:extLst>
          </p:cNvPr>
          <p:cNvSpPr>
            <a:spLocks noGrp="1"/>
          </p:cNvSpPr>
          <p:nvPr>
            <p:ph type="sldNum" sz="quarter" idx="12"/>
          </p:nvPr>
        </p:nvSpPr>
        <p:spPr/>
        <p:txBody>
          <a:bodyPr/>
          <a:lstStyle/>
          <a:p>
            <a:fld id="{FC0CC166-4E39-43B8-AB91-BDD1C4C9E224}" type="slidenum">
              <a:rPr lang="de-DE" smtClean="0"/>
              <a:t>12</a:t>
            </a:fld>
            <a:endParaRPr lang="de-DE" dirty="0"/>
          </a:p>
        </p:txBody>
      </p:sp>
    </p:spTree>
    <p:extLst>
      <p:ext uri="{BB962C8B-B14F-4D97-AF65-F5344CB8AC3E}">
        <p14:creationId xmlns:p14="http://schemas.microsoft.com/office/powerpoint/2010/main" val="1307952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de-DE" dirty="0"/>
              <a:t>Reference</a:t>
            </a:r>
          </a:p>
        </p:txBody>
      </p:sp>
      <p:sp>
        <p:nvSpPr>
          <p:cNvPr id="4" name="Datumsplatzhalter 3"/>
          <p:cNvSpPr>
            <a:spLocks noGrp="1"/>
          </p:cNvSpPr>
          <p:nvPr>
            <p:ph type="dt" sz="half" idx="10"/>
          </p:nvPr>
        </p:nvSpPr>
        <p:spPr/>
        <p:txBody>
          <a:bodyPr/>
          <a:lstStyle/>
          <a:p>
            <a:r>
              <a:rPr lang="de-DE" dirty="0"/>
              <a:t>29.04.2024</a:t>
            </a:r>
          </a:p>
        </p:txBody>
      </p:sp>
      <p:sp>
        <p:nvSpPr>
          <p:cNvPr id="6" name="Foliennummernplatzhalter 5"/>
          <p:cNvSpPr>
            <a:spLocks noGrp="1"/>
          </p:cNvSpPr>
          <p:nvPr>
            <p:ph type="sldNum" sz="quarter" idx="12"/>
          </p:nvPr>
        </p:nvSpPr>
        <p:spPr/>
        <p:txBody>
          <a:bodyPr/>
          <a:lstStyle/>
          <a:p>
            <a:fld id="{FC0CC166-4E39-43B8-AB91-BDD1C4C9E224}" type="slidenum">
              <a:rPr lang="de-DE" smtClean="0"/>
              <a:t>13</a:t>
            </a:fld>
            <a:endParaRPr lang="de-DE"/>
          </a:p>
        </p:txBody>
      </p:sp>
      <p:sp>
        <p:nvSpPr>
          <p:cNvPr id="2" name="Fußzeilenplatzhalter 4">
            <a:extLst>
              <a:ext uri="{FF2B5EF4-FFF2-40B4-BE49-F238E27FC236}">
                <a16:creationId xmlns:a16="http://schemas.microsoft.com/office/drawing/2014/main" id="{A55FE38B-66C7-58A5-5125-F2DAD93E001B}"/>
              </a:ext>
            </a:extLst>
          </p:cNvPr>
          <p:cNvSpPr>
            <a:spLocks noGrp="1"/>
          </p:cNvSpPr>
          <p:nvPr>
            <p:ph type="ftr" sz="quarter" idx="11"/>
          </p:nvPr>
        </p:nvSpPr>
        <p:spPr>
          <a:xfrm>
            <a:off x="1378800" y="6062400"/>
            <a:ext cx="6623787" cy="110594"/>
          </a:xfrm>
        </p:spPr>
        <p:txBody>
          <a:bodyPr/>
          <a:lstStyle/>
          <a:p>
            <a:r>
              <a:rPr lang="en-US" altLang="ko-KR" sz="1200" i="0" dirty="0">
                <a:effectLst/>
                <a:highlight>
                  <a:srgbClr val="FFFFFF"/>
                </a:highlight>
                <a:latin typeface="Söhne"/>
              </a:rPr>
              <a:t>Evaluating the Effectiveness of Large Language Models in Translating Korean Poetry into English</a:t>
            </a:r>
            <a:endParaRPr lang="de-DE" dirty="0"/>
          </a:p>
        </p:txBody>
      </p:sp>
      <p:sp>
        <p:nvSpPr>
          <p:cNvPr id="3" name="내용 개체 틀 2">
            <a:extLst>
              <a:ext uri="{FF2B5EF4-FFF2-40B4-BE49-F238E27FC236}">
                <a16:creationId xmlns:a16="http://schemas.microsoft.com/office/drawing/2014/main" id="{9A70B0A5-D148-F11B-57EC-0407767EAB50}"/>
              </a:ext>
            </a:extLst>
          </p:cNvPr>
          <p:cNvSpPr>
            <a:spLocks noGrp="1"/>
          </p:cNvSpPr>
          <p:nvPr>
            <p:ph idx="1"/>
          </p:nvPr>
        </p:nvSpPr>
        <p:spPr>
          <a:xfrm>
            <a:off x="1378800" y="2178000"/>
            <a:ext cx="9432000" cy="3690000"/>
          </a:xfrm>
        </p:spPr>
        <p:txBody>
          <a:bodyPr/>
          <a:lstStyle/>
          <a:p>
            <a:pPr algn="l"/>
            <a:r>
              <a:rPr lang="en-US" altLang="ko-KR" b="0" i="0" dirty="0" err="1">
                <a:effectLst/>
                <a:highlight>
                  <a:srgbClr val="FFFFFF"/>
                </a:highlight>
                <a:latin typeface="Söhne"/>
              </a:rPr>
              <a:t>Karpinska</a:t>
            </a:r>
            <a:r>
              <a:rPr lang="en-US" altLang="ko-KR" b="0" i="0" dirty="0">
                <a:effectLst/>
                <a:highlight>
                  <a:srgbClr val="FFFFFF"/>
                </a:highlight>
                <a:latin typeface="Söhne"/>
              </a:rPr>
              <a:t>, M., &amp; </a:t>
            </a:r>
            <a:r>
              <a:rPr lang="en-US" altLang="ko-KR" b="0" i="0" dirty="0" err="1">
                <a:effectLst/>
                <a:highlight>
                  <a:srgbClr val="FFFFFF"/>
                </a:highlight>
                <a:latin typeface="Söhne"/>
              </a:rPr>
              <a:t>Iyyer</a:t>
            </a:r>
            <a:r>
              <a:rPr lang="en-US" altLang="ko-KR" b="0" i="0" dirty="0">
                <a:effectLst/>
                <a:highlight>
                  <a:srgbClr val="FFFFFF"/>
                </a:highlight>
                <a:latin typeface="Söhne"/>
              </a:rPr>
              <a:t>, M. (2023). Large language models effectively leverage document-level context for literary translation, but critical errors persist. </a:t>
            </a:r>
          </a:p>
          <a:p>
            <a:pPr algn="l"/>
            <a:r>
              <a:rPr lang="en-US" altLang="ko-KR" b="0" i="0" dirty="0">
                <a:effectLst/>
                <a:highlight>
                  <a:srgbClr val="FFFFFF"/>
                </a:highlight>
                <a:latin typeface="Söhne"/>
              </a:rPr>
              <a:t>Wang, L., Lyu, C., Ji, T., Zhang, Z., Yu, D., Shi, S., &amp; Tu, Z. (2023). Document-level machine translation with large language models. </a:t>
            </a:r>
          </a:p>
          <a:p>
            <a:pPr algn="l"/>
            <a:r>
              <a:rPr lang="en-US" altLang="ko-KR" b="0" i="0" dirty="0">
                <a:effectLst/>
                <a:highlight>
                  <a:srgbClr val="FFFFFF"/>
                </a:highlight>
                <a:latin typeface="Söhne"/>
              </a:rPr>
              <a:t>Korean Poetry in Translation </a:t>
            </a:r>
            <a:r>
              <a:rPr lang="en-US" altLang="ko-KR" b="0" i="0" dirty="0">
                <a:effectLst/>
                <a:highlight>
                  <a:srgbClr val="FFFFFF"/>
                </a:highlight>
                <a:latin typeface="Söhne"/>
                <a:hlinkClick r:id="rId3"/>
              </a:rPr>
              <a:t>https://jaypsong.blog/</a:t>
            </a:r>
            <a:r>
              <a:rPr lang="en-US" altLang="ko-KR" b="0" i="0" dirty="0">
                <a:effectLst/>
                <a:highlight>
                  <a:srgbClr val="FFFFFF"/>
                </a:highlight>
                <a:latin typeface="Söhne"/>
              </a:rPr>
              <a:t> </a:t>
            </a:r>
          </a:p>
          <a:p>
            <a:pPr algn="l"/>
            <a:r>
              <a:rPr lang="en-US" altLang="ko-KR" dirty="0">
                <a:highlight>
                  <a:srgbClr val="FFFFFF"/>
                </a:highlight>
                <a:latin typeface="Söhne"/>
              </a:rPr>
              <a:t>MQM </a:t>
            </a:r>
            <a:r>
              <a:rPr lang="en-US" altLang="ko-KR" dirty="0">
                <a:highlight>
                  <a:srgbClr val="FFFFFF"/>
                </a:highlight>
                <a:latin typeface="Söhne"/>
                <a:hlinkClick r:id="rId4"/>
              </a:rPr>
              <a:t>https://themqm.org/uses-of-mqm/</a:t>
            </a:r>
            <a:r>
              <a:rPr lang="en-US" altLang="ko-KR" dirty="0">
                <a:highlight>
                  <a:srgbClr val="FFFFFF"/>
                </a:highlight>
                <a:latin typeface="Söhne"/>
              </a:rPr>
              <a:t> </a:t>
            </a:r>
            <a:endParaRPr lang="en-US" altLang="ko-KR" b="0" i="0" dirty="0">
              <a:effectLst/>
              <a:highlight>
                <a:srgbClr val="FFFFFF"/>
              </a:highlight>
              <a:latin typeface="Söhne"/>
            </a:endParaRPr>
          </a:p>
        </p:txBody>
      </p:sp>
    </p:spTree>
    <p:extLst>
      <p:ext uri="{BB962C8B-B14F-4D97-AF65-F5344CB8AC3E}">
        <p14:creationId xmlns:p14="http://schemas.microsoft.com/office/powerpoint/2010/main" val="1968848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58B4A301-2773-8322-7E53-3B7C98DFE879}"/>
              </a:ext>
            </a:extLst>
          </p:cNvPr>
          <p:cNvSpPr>
            <a:spLocks noGrp="1"/>
          </p:cNvSpPr>
          <p:nvPr>
            <p:ph idx="1"/>
          </p:nvPr>
        </p:nvSpPr>
        <p:spPr>
          <a:xfrm>
            <a:off x="524605" y="2841997"/>
            <a:ext cx="9432000" cy="1175594"/>
          </a:xfrm>
        </p:spPr>
        <p:txBody>
          <a:bodyPr/>
          <a:lstStyle/>
          <a:p>
            <a:pPr marL="0" indent="0" algn="ctr">
              <a:buNone/>
            </a:pPr>
            <a:r>
              <a:rPr lang="en-US" altLang="ko-KR" sz="5400" b="1" dirty="0"/>
              <a:t>Question ?</a:t>
            </a:r>
            <a:endParaRPr lang="ko-KR" altLang="en-US" sz="5400" b="1" dirty="0"/>
          </a:p>
        </p:txBody>
      </p:sp>
      <p:sp>
        <p:nvSpPr>
          <p:cNvPr id="4" name="날짜 개체 틀 3">
            <a:extLst>
              <a:ext uri="{FF2B5EF4-FFF2-40B4-BE49-F238E27FC236}">
                <a16:creationId xmlns:a16="http://schemas.microsoft.com/office/drawing/2014/main" id="{B0298429-B441-F4B3-B7CD-E5DB71C88272}"/>
              </a:ext>
            </a:extLst>
          </p:cNvPr>
          <p:cNvSpPr>
            <a:spLocks noGrp="1"/>
          </p:cNvSpPr>
          <p:nvPr>
            <p:ph type="dt" sz="half" idx="10"/>
          </p:nvPr>
        </p:nvSpPr>
        <p:spPr/>
        <p:txBody>
          <a:bodyPr/>
          <a:lstStyle/>
          <a:p>
            <a:r>
              <a:rPr lang="de-DE" dirty="0"/>
              <a:t>29.04.2024</a:t>
            </a:r>
          </a:p>
        </p:txBody>
      </p:sp>
      <p:sp>
        <p:nvSpPr>
          <p:cNvPr id="5" name="바닥글 개체 틀 4">
            <a:extLst>
              <a:ext uri="{FF2B5EF4-FFF2-40B4-BE49-F238E27FC236}">
                <a16:creationId xmlns:a16="http://schemas.microsoft.com/office/drawing/2014/main" id="{D1674EAC-E65E-D647-D8A9-3D7B055AF0D1}"/>
              </a:ext>
            </a:extLst>
          </p:cNvPr>
          <p:cNvSpPr>
            <a:spLocks noGrp="1"/>
          </p:cNvSpPr>
          <p:nvPr>
            <p:ph type="ftr" sz="quarter" idx="11"/>
          </p:nvPr>
        </p:nvSpPr>
        <p:spPr/>
        <p:txBody>
          <a:bodyPr/>
          <a:lstStyle/>
          <a:p>
            <a:r>
              <a:rPr lang="de-DE"/>
              <a:t>Beispiel-Fußzeile</a:t>
            </a:r>
            <a:endParaRPr lang="de-DE" dirty="0"/>
          </a:p>
        </p:txBody>
      </p:sp>
      <p:sp>
        <p:nvSpPr>
          <p:cNvPr id="6" name="슬라이드 번호 개체 틀 5">
            <a:extLst>
              <a:ext uri="{FF2B5EF4-FFF2-40B4-BE49-F238E27FC236}">
                <a16:creationId xmlns:a16="http://schemas.microsoft.com/office/drawing/2014/main" id="{186021E4-CCF1-CE45-6428-B1151FE3B624}"/>
              </a:ext>
            </a:extLst>
          </p:cNvPr>
          <p:cNvSpPr>
            <a:spLocks noGrp="1"/>
          </p:cNvSpPr>
          <p:nvPr>
            <p:ph type="sldNum" sz="quarter" idx="12"/>
          </p:nvPr>
        </p:nvSpPr>
        <p:spPr/>
        <p:txBody>
          <a:bodyPr/>
          <a:lstStyle/>
          <a:p>
            <a:fld id="{FC0CC166-4E39-43B8-AB91-BDD1C4C9E224}" type="slidenum">
              <a:rPr lang="de-DE" smtClean="0"/>
              <a:t>14</a:t>
            </a:fld>
            <a:endParaRPr lang="de-DE" dirty="0"/>
          </a:p>
        </p:txBody>
      </p:sp>
      <p:sp>
        <p:nvSpPr>
          <p:cNvPr id="7" name="Fußzeilenplatzhalter 4">
            <a:extLst>
              <a:ext uri="{FF2B5EF4-FFF2-40B4-BE49-F238E27FC236}">
                <a16:creationId xmlns:a16="http://schemas.microsoft.com/office/drawing/2014/main" id="{5D62953B-7178-76A6-C580-2243E8AC7C86}"/>
              </a:ext>
            </a:extLst>
          </p:cNvPr>
          <p:cNvSpPr txBox="1">
            <a:spLocks/>
          </p:cNvSpPr>
          <p:nvPr/>
        </p:nvSpPr>
        <p:spPr>
          <a:xfrm>
            <a:off x="1378800" y="6062400"/>
            <a:ext cx="6623787" cy="110594"/>
          </a:xfrm>
          <a:prstGeom prst="rect">
            <a:avLst/>
          </a:prstGeom>
        </p:spPr>
        <p:txBody>
          <a:bodyPr vert="horz" lIns="0" tIns="0" rIns="0" bIns="0" rtlCol="0" anchor="t">
            <a:noAutofit/>
          </a:bodyPr>
          <a:lstStyle>
            <a:defPPr>
              <a:defRPr lang="de-DE"/>
            </a:defPPr>
            <a:lvl1pPr marL="0" algn="l" defTabSz="914305" rtl="0" eaLnBrk="1" latinLnBrk="0" hangingPunct="1">
              <a:defRPr sz="1200" kern="1200">
                <a:solidFill>
                  <a:srgbClr val="003056"/>
                </a:solidFill>
                <a:latin typeface="+mn-lt"/>
                <a:ea typeface="+mn-ea"/>
                <a:cs typeface="+mn-cs"/>
              </a:defRPr>
            </a:lvl1pPr>
            <a:lvl2pPr marL="457152" algn="l" defTabSz="914305" rtl="0" eaLnBrk="1" latinLnBrk="0" hangingPunct="1">
              <a:defRPr sz="1800" kern="1200">
                <a:solidFill>
                  <a:schemeClr val="tx1"/>
                </a:solidFill>
                <a:latin typeface="+mn-lt"/>
                <a:ea typeface="+mn-ea"/>
                <a:cs typeface="+mn-cs"/>
              </a:defRPr>
            </a:lvl2pPr>
            <a:lvl3pPr marL="914305" algn="l" defTabSz="914305" rtl="0" eaLnBrk="1" latinLnBrk="0" hangingPunct="1">
              <a:defRPr sz="1800" kern="1200">
                <a:solidFill>
                  <a:schemeClr val="tx1"/>
                </a:solidFill>
                <a:latin typeface="+mn-lt"/>
                <a:ea typeface="+mn-ea"/>
                <a:cs typeface="+mn-cs"/>
              </a:defRPr>
            </a:lvl3pPr>
            <a:lvl4pPr marL="1371457" algn="l" defTabSz="914305" rtl="0" eaLnBrk="1" latinLnBrk="0" hangingPunct="1">
              <a:defRPr sz="1800" kern="1200">
                <a:solidFill>
                  <a:schemeClr val="tx1"/>
                </a:solidFill>
                <a:latin typeface="+mn-lt"/>
                <a:ea typeface="+mn-ea"/>
                <a:cs typeface="+mn-cs"/>
              </a:defRPr>
            </a:lvl4pPr>
            <a:lvl5pPr marL="1828610" algn="l" defTabSz="914305" rtl="0" eaLnBrk="1" latinLnBrk="0" hangingPunct="1">
              <a:defRPr sz="1800" kern="1200">
                <a:solidFill>
                  <a:schemeClr val="tx1"/>
                </a:solidFill>
                <a:latin typeface="+mn-lt"/>
                <a:ea typeface="+mn-ea"/>
                <a:cs typeface="+mn-cs"/>
              </a:defRPr>
            </a:lvl5pPr>
            <a:lvl6pPr marL="2285761" algn="l" defTabSz="914305" rtl="0" eaLnBrk="1" latinLnBrk="0" hangingPunct="1">
              <a:defRPr sz="1800" kern="1200">
                <a:solidFill>
                  <a:schemeClr val="tx1"/>
                </a:solidFill>
                <a:latin typeface="+mn-lt"/>
                <a:ea typeface="+mn-ea"/>
                <a:cs typeface="+mn-cs"/>
              </a:defRPr>
            </a:lvl6pPr>
            <a:lvl7pPr marL="2742914" algn="l" defTabSz="914305" rtl="0" eaLnBrk="1" latinLnBrk="0" hangingPunct="1">
              <a:defRPr sz="1800" kern="1200">
                <a:solidFill>
                  <a:schemeClr val="tx1"/>
                </a:solidFill>
                <a:latin typeface="+mn-lt"/>
                <a:ea typeface="+mn-ea"/>
                <a:cs typeface="+mn-cs"/>
              </a:defRPr>
            </a:lvl7pPr>
            <a:lvl8pPr marL="3200066" algn="l" defTabSz="914305" rtl="0" eaLnBrk="1" latinLnBrk="0" hangingPunct="1">
              <a:defRPr sz="1800" kern="1200">
                <a:solidFill>
                  <a:schemeClr val="tx1"/>
                </a:solidFill>
                <a:latin typeface="+mn-lt"/>
                <a:ea typeface="+mn-ea"/>
                <a:cs typeface="+mn-cs"/>
              </a:defRPr>
            </a:lvl8pPr>
            <a:lvl9pPr marL="3657219" algn="l" defTabSz="914305" rtl="0" eaLnBrk="1" latinLnBrk="0" hangingPunct="1">
              <a:defRPr sz="1800" kern="1200">
                <a:solidFill>
                  <a:schemeClr val="tx1"/>
                </a:solidFill>
                <a:latin typeface="+mn-lt"/>
                <a:ea typeface="+mn-ea"/>
                <a:cs typeface="+mn-cs"/>
              </a:defRPr>
            </a:lvl9pPr>
          </a:lstStyle>
          <a:p>
            <a:r>
              <a:rPr lang="en-US" altLang="ko-KR">
                <a:highlight>
                  <a:srgbClr val="FFFFFF"/>
                </a:highlight>
                <a:latin typeface="Söhne"/>
              </a:rPr>
              <a:t>Evaluating the Effectiveness of Large Language Models in Translating Korean Poetry into English</a:t>
            </a:r>
            <a:endParaRPr lang="de-DE" dirty="0"/>
          </a:p>
        </p:txBody>
      </p:sp>
    </p:spTree>
    <p:extLst>
      <p:ext uri="{BB962C8B-B14F-4D97-AF65-F5344CB8AC3E}">
        <p14:creationId xmlns:p14="http://schemas.microsoft.com/office/powerpoint/2010/main" val="1820323445"/>
      </p:ext>
    </p:extLst>
  </p:cSld>
  <p:clrMapOvr>
    <a:masterClrMapping/>
  </p:clrMapOvr>
</p:sld>
</file>

<file path=ppt/theme/theme1.xml><?xml version="1.0" encoding="utf-8"?>
<a:theme xmlns:a="http://schemas.openxmlformats.org/drawingml/2006/main" name="Präsentationsvorlage Uni MA final gesendet-neu">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Folienmaster_16_9_WIM_DEU.potx" id="{5618B744-CF9D-47EA-9FA5-9D1EA6F3DC30}" vid="{8DCFC93A-83C2-4318-BD4C-9D1F0755924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Folienmaster_16_9_WIM_ENG</Template>
  <TotalTime>9180</TotalTime>
  <Words>2448</Words>
  <Application>Microsoft Office PowerPoint</Application>
  <PresentationFormat>사용자 지정</PresentationFormat>
  <Paragraphs>300</Paragraphs>
  <Slides>14</Slides>
  <Notes>14</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14</vt:i4>
      </vt:variant>
    </vt:vector>
  </HeadingPairs>
  <TitlesOfParts>
    <vt:vector size="22" baseType="lpstr">
      <vt:lpstr>-apple-system</vt:lpstr>
      <vt:lpstr>Söhne</vt:lpstr>
      <vt:lpstr>굴림</vt:lpstr>
      <vt:lpstr>맑은 고딕</vt:lpstr>
      <vt:lpstr>Arial</vt:lpstr>
      <vt:lpstr>Calibri</vt:lpstr>
      <vt:lpstr>Wingdings</vt:lpstr>
      <vt:lpstr>Präsentationsvorlage Uni MA final gesendet-neu</vt:lpstr>
      <vt:lpstr>Evaluating the Effectiveness of Large Language Models in Translating Korean Poetry into English :  </vt:lpstr>
      <vt:lpstr>Introduction</vt:lpstr>
      <vt:lpstr>Problem Statement &amp; Challenges</vt:lpstr>
      <vt:lpstr>Dataset </vt:lpstr>
      <vt:lpstr>Main features of Korean and Korean poem</vt:lpstr>
      <vt:lpstr>Experiment</vt:lpstr>
      <vt:lpstr>Evaluation </vt:lpstr>
      <vt:lpstr>Experiment &amp; Evaluation</vt:lpstr>
      <vt:lpstr>Experiment &amp; Evaluation</vt:lpstr>
      <vt:lpstr> </vt:lpstr>
      <vt:lpstr>Conclusion </vt:lpstr>
      <vt:lpstr>Limitation</vt:lpstr>
      <vt:lpstr>Reference</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the Effectiveness of Large Language Models in Translating Korean Poetry into English :  </dc:title>
  <dc:creator>이지연</dc:creator>
  <cp:lastModifiedBy>이지연</cp:lastModifiedBy>
  <cp:revision>90</cp:revision>
  <dcterms:created xsi:type="dcterms:W3CDTF">2024-04-22T14:57:50Z</dcterms:created>
  <dcterms:modified xsi:type="dcterms:W3CDTF">2024-04-29T12:57:20Z</dcterms:modified>
</cp:coreProperties>
</file>